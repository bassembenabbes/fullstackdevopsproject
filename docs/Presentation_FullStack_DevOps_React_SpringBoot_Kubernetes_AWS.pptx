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Cliquez </a:t>
            </a:r>
            <a:r>
              <a:rPr b="0" lang="fr-FR" sz="4400" spc="-1" strike="noStrike">
                <a:latin typeface="Arial"/>
              </a:rPr>
              <a:t>pour </a:t>
            </a:r>
            <a:r>
              <a:rPr b="0" lang="fr-FR" sz="4400" spc="-1" strike="noStrike">
                <a:latin typeface="Arial"/>
              </a:rPr>
              <a:t>déplacer </a:t>
            </a:r>
            <a:r>
              <a:rPr b="0" lang="fr-FR" sz="4400" spc="-1" strike="noStrike">
                <a:latin typeface="Arial"/>
              </a:rPr>
              <a:t>la diapo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1ABFF312-DB0E-4DE1-AC25-3ED0A35B64FF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46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570B033-F1EF-4BAB-853D-F14ED2EA75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Cliquez </a:t>
            </a:r>
            <a:r>
              <a:rPr b="0" lang="fr-FR" sz="4400" spc="-1" strike="noStrike">
                <a:latin typeface="Arial"/>
              </a:rPr>
              <a:t>pour </a:t>
            </a:r>
            <a:r>
              <a:rPr b="0" lang="fr-FR" sz="4400" spc="-1" strike="noStrike">
                <a:latin typeface="Arial"/>
              </a:rPr>
              <a:t>éditer le </a:t>
            </a:r>
            <a:r>
              <a:rPr b="0" lang="fr-FR" sz="4400" spc="-1" strike="noStrike">
                <a:latin typeface="Arial"/>
              </a:rPr>
              <a:t>format </a:t>
            </a:r>
            <a:r>
              <a:rPr b="0" lang="fr-FR" sz="4400" spc="-1" strike="noStrike">
                <a:latin typeface="Arial"/>
              </a:rPr>
              <a:t>du texte-</a:t>
            </a:r>
            <a:r>
              <a:rPr b="0" lang="fr-FR" sz="4400" spc="-1" strike="noStrike">
                <a:latin typeface="Arial"/>
              </a:rPr>
              <a:t>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localhost:8080/" TargetMode="External"/><Relationship Id="rId2" Type="http://schemas.openxmlformats.org/officeDocument/2006/relationships/hyperlink" Target="http://localhost:5173/" TargetMode="External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9601200" y="731520"/>
            <a:ext cx="2010960" cy="2010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2"/>
          <p:cNvSpPr/>
          <p:nvPr/>
        </p:nvSpPr>
        <p:spPr>
          <a:xfrm>
            <a:off x="10469880" y="1920240"/>
            <a:ext cx="1142280" cy="11422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3"/>
          <p:cNvSpPr/>
          <p:nvPr/>
        </p:nvSpPr>
        <p:spPr>
          <a:xfrm>
            <a:off x="8869680" y="2743200"/>
            <a:ext cx="913680" cy="9136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CustomShape 4"/>
          <p:cNvSpPr/>
          <p:nvPr/>
        </p:nvSpPr>
        <p:spPr>
          <a:xfrm>
            <a:off x="10149840" y="3749040"/>
            <a:ext cx="1828080" cy="1828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5"/>
          <p:cNvSpPr/>
          <p:nvPr/>
        </p:nvSpPr>
        <p:spPr>
          <a:xfrm>
            <a:off x="731520" y="685800"/>
            <a:ext cx="795456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2d3ee"/>
                </a:solidFill>
                <a:latin typeface="Aptos"/>
                <a:ea typeface="DejaVu Sans"/>
              </a:rPr>
              <a:t>PROJET FULL STACK DEVOPS K8S &amp; AWS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731520" y="1417320"/>
            <a:ext cx="7863120" cy="61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Aptos"/>
                <a:ea typeface="DejaVu Sans"/>
              </a:rPr>
              <a:t>Gestion des Personnes</a:t>
            </a:r>
            <a:endParaRPr b="0" lang="fr-FR" sz="3800" spc="-1" strike="noStrike">
              <a:latin typeface="Arial"/>
            </a:endParaRPr>
          </a:p>
        </p:txBody>
      </p:sp>
      <p:sp>
        <p:nvSpPr>
          <p:cNvPr id="88" name="CustomShape 7"/>
          <p:cNvSpPr/>
          <p:nvPr/>
        </p:nvSpPr>
        <p:spPr>
          <a:xfrm>
            <a:off x="777240" y="3246120"/>
            <a:ext cx="7680240" cy="61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cbd5e1"/>
                </a:solidFill>
                <a:latin typeface="Aptos"/>
                <a:ea typeface="DejaVu Sans"/>
              </a:rPr>
              <a:t>React • Spring Boot • Java • PostgreSQL</a:t>
            </a:r>
            <a:endParaRPr b="0" lang="fr-FR" sz="1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cbd5e1"/>
                </a:solidFill>
                <a:latin typeface="Aptos"/>
                <a:ea typeface="DejaVu Sans"/>
              </a:rPr>
              <a:t>Docker • Kubernetes • AWS • CI/CD  • Helm</a:t>
            </a:r>
            <a:r>
              <a:rPr b="0" lang="en-US" sz="1900" spc="-1" strike="noStrike">
                <a:solidFill>
                  <a:srgbClr val="cbd5e1"/>
                </a:solidFill>
                <a:latin typeface="Aptos"/>
                <a:ea typeface="DejaVu Sans"/>
              </a:rPr>
              <a:t> • Terraform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89" name="CustomShape 8"/>
          <p:cNvSpPr/>
          <p:nvPr/>
        </p:nvSpPr>
        <p:spPr>
          <a:xfrm>
            <a:off x="777240" y="5166360"/>
            <a:ext cx="6948720" cy="76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ptos"/>
                <a:ea typeface="DejaVu Sans"/>
              </a:rPr>
              <a:t>Du développement applicatif à l’exploitation cloud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ptos"/>
                <a:ea typeface="DejaVu Sans"/>
              </a:rPr>
              <a:t>https://github.com/bassembenabbes/FullStackDevOpsProject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90" name="CustomShape 9"/>
          <p:cNvSpPr/>
          <p:nvPr/>
        </p:nvSpPr>
        <p:spPr>
          <a:xfrm>
            <a:off x="777240" y="6309360"/>
            <a:ext cx="731448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  <a:ea typeface="DejaVu Sans"/>
              </a:rPr>
              <a:t>Présentation du projet technique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39240" y="168480"/>
            <a:ext cx="12191760" cy="6565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01 • Vue d’ensemble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Une application métier simple pour démontrer un cycle logiciel complet.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02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97" name="CustomShape 6"/>
          <p:cNvSpPr/>
          <p:nvPr/>
        </p:nvSpPr>
        <p:spPr>
          <a:xfrm>
            <a:off x="731520" y="1828800"/>
            <a:ext cx="5028480" cy="35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0f1c34"/>
                </a:solidFill>
                <a:latin typeface="Aptos"/>
                <a:ea typeface="DejaVu Sans"/>
              </a:rPr>
              <a:t>Objectif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8" name="CustomShape 7"/>
          <p:cNvSpPr/>
          <p:nvPr/>
        </p:nvSpPr>
        <p:spPr>
          <a:xfrm>
            <a:off x="731520" y="2423160"/>
            <a:ext cx="5028480" cy="81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1f2937"/>
                </a:solidFill>
                <a:latin typeface="Aptos"/>
                <a:ea typeface="DejaVu Sans"/>
              </a:rPr>
              <a:t>Créer une application web permettant de gérer un catalogue de personnes au travers d’une interface moderne et d’une API REST.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99" name="CustomShape 8"/>
          <p:cNvSpPr/>
          <p:nvPr/>
        </p:nvSpPr>
        <p:spPr>
          <a:xfrm>
            <a:off x="6217920" y="1512000"/>
            <a:ext cx="2494080" cy="1733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CustomShape 9"/>
          <p:cNvSpPr/>
          <p:nvPr/>
        </p:nvSpPr>
        <p:spPr>
          <a:xfrm>
            <a:off x="6217920" y="1828800"/>
            <a:ext cx="72360" cy="1416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CustomShape 10"/>
          <p:cNvSpPr/>
          <p:nvPr/>
        </p:nvSpPr>
        <p:spPr>
          <a:xfrm>
            <a:off x="6408000" y="1682640"/>
            <a:ext cx="20109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Arial"/>
              </a:rPr>
              <a:t>Développement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02" name="CustomShape 11"/>
          <p:cNvSpPr/>
          <p:nvPr/>
        </p:nvSpPr>
        <p:spPr>
          <a:xfrm>
            <a:off x="6336000" y="2088000"/>
            <a:ext cx="2448000" cy="95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Front : React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Back : Spring Boot &amp; JAVA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DB : PostgreSQL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Architecture 3-tiers 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03" name="CustomShape 12"/>
          <p:cNvSpPr/>
          <p:nvPr/>
        </p:nvSpPr>
        <p:spPr>
          <a:xfrm>
            <a:off x="8823960" y="1440000"/>
            <a:ext cx="2376720" cy="1805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CustomShape 13"/>
          <p:cNvSpPr/>
          <p:nvPr/>
        </p:nvSpPr>
        <p:spPr>
          <a:xfrm>
            <a:off x="8823960" y="1828800"/>
            <a:ext cx="72360" cy="14166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CustomShape 14"/>
          <p:cNvSpPr/>
          <p:nvPr/>
        </p:nvSpPr>
        <p:spPr>
          <a:xfrm>
            <a:off x="9005040" y="1591920"/>
            <a:ext cx="20109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Arial"/>
              </a:rPr>
              <a:t>Orchestration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06" name="CustomShape 15"/>
          <p:cNvSpPr/>
          <p:nvPr/>
        </p:nvSpPr>
        <p:spPr>
          <a:xfrm>
            <a:off x="9025200" y="2016000"/>
            <a:ext cx="2010960" cy="49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Kubernetes + Helm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Déploiement scalable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07" name="CustomShape 16"/>
          <p:cNvSpPr/>
          <p:nvPr/>
        </p:nvSpPr>
        <p:spPr>
          <a:xfrm>
            <a:off x="6217920" y="3566160"/>
            <a:ext cx="2494080" cy="17686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CustomShape 17"/>
          <p:cNvSpPr/>
          <p:nvPr/>
        </p:nvSpPr>
        <p:spPr>
          <a:xfrm>
            <a:off x="6217920" y="3566160"/>
            <a:ext cx="118080" cy="1768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18"/>
          <p:cNvSpPr/>
          <p:nvPr/>
        </p:nvSpPr>
        <p:spPr>
          <a:xfrm>
            <a:off x="6408000" y="3663000"/>
            <a:ext cx="2010960" cy="5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Arial"/>
              </a:rPr>
              <a:t>Conteneurisation &amp; </a:t>
            </a: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LIVRAISON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10" name="CustomShape 19"/>
          <p:cNvSpPr/>
          <p:nvPr/>
        </p:nvSpPr>
        <p:spPr>
          <a:xfrm>
            <a:off x="6336000" y="4392000"/>
            <a:ext cx="2592000" cy="85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Docker &amp; Docker Compose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Environnement local </a:t>
            </a: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CI/CD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latin typeface="Arial"/>
            </a:endParaRPr>
          </a:p>
        </p:txBody>
      </p:sp>
      <p:sp>
        <p:nvSpPr>
          <p:cNvPr id="111" name="CustomShape 20"/>
          <p:cNvSpPr/>
          <p:nvPr/>
        </p:nvSpPr>
        <p:spPr>
          <a:xfrm>
            <a:off x="8823960" y="3566160"/>
            <a:ext cx="2624040" cy="1761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CustomShape 21"/>
          <p:cNvSpPr/>
          <p:nvPr/>
        </p:nvSpPr>
        <p:spPr>
          <a:xfrm>
            <a:off x="8823960" y="3566160"/>
            <a:ext cx="72360" cy="14166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CustomShape 22"/>
          <p:cNvSpPr/>
          <p:nvPr/>
        </p:nvSpPr>
        <p:spPr>
          <a:xfrm>
            <a:off x="9025200" y="3578400"/>
            <a:ext cx="2010960" cy="5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EXPLOITATION  </a:t>
            </a: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Arial"/>
              </a:rPr>
              <a:t>Cloud &amp; IaC 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14" name="CustomShape 23"/>
          <p:cNvSpPr/>
          <p:nvPr/>
        </p:nvSpPr>
        <p:spPr>
          <a:xfrm>
            <a:off x="9025200" y="4133160"/>
            <a:ext cx="2278800" cy="90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AWS (ECS, ALB, RDS)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Terraform 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GitHub Actions </a:t>
            </a: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Monitoring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5" name="CustomShape 24"/>
          <p:cNvSpPr/>
          <p:nvPr/>
        </p:nvSpPr>
        <p:spPr>
          <a:xfrm>
            <a:off x="731520" y="3977640"/>
            <a:ext cx="4799880" cy="76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64748b"/>
                </a:solidFill>
                <a:latin typeface="Aptos"/>
                <a:ea typeface="DejaVu Sans"/>
              </a:rPr>
              <a:t>Le projet relie développement, qualité, automatisation, déploiement et supervision dans une seule démarche.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02 • Besoin métier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Centraliser les informations et fiabiliser leur gestion.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20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03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21" name="CustomShape 6"/>
          <p:cNvSpPr/>
          <p:nvPr/>
        </p:nvSpPr>
        <p:spPr>
          <a:xfrm>
            <a:off x="731520" y="182880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CustomShape 7"/>
          <p:cNvSpPr/>
          <p:nvPr/>
        </p:nvSpPr>
        <p:spPr>
          <a:xfrm>
            <a:off x="731520" y="1828800"/>
            <a:ext cx="72360" cy="1325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CustomShape 8"/>
          <p:cNvSpPr/>
          <p:nvPr/>
        </p:nvSpPr>
        <p:spPr>
          <a:xfrm>
            <a:off x="932760" y="1993320"/>
            <a:ext cx="46627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Données dupliquées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24" name="CustomShape 9"/>
          <p:cNvSpPr/>
          <p:nvPr/>
        </p:nvSpPr>
        <p:spPr>
          <a:xfrm>
            <a:off x="932760" y="2395800"/>
            <a:ext cx="46627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Éviter les enregistrements répétés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5" name="CustomShape 10"/>
          <p:cNvSpPr/>
          <p:nvPr/>
        </p:nvSpPr>
        <p:spPr>
          <a:xfrm>
            <a:off x="6309360" y="182880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CustomShape 11"/>
          <p:cNvSpPr/>
          <p:nvPr/>
        </p:nvSpPr>
        <p:spPr>
          <a:xfrm>
            <a:off x="6309360" y="1828800"/>
            <a:ext cx="72360" cy="13251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CustomShape 12"/>
          <p:cNvSpPr/>
          <p:nvPr/>
        </p:nvSpPr>
        <p:spPr>
          <a:xfrm>
            <a:off x="6510600" y="1993320"/>
            <a:ext cx="46627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Erreurs de saisie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28" name="CustomShape 13"/>
          <p:cNvSpPr/>
          <p:nvPr/>
        </p:nvSpPr>
        <p:spPr>
          <a:xfrm>
            <a:off x="6510600" y="2395800"/>
            <a:ext cx="46627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Valider les informations dès la création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9" name="CustomShape 14"/>
          <p:cNvSpPr/>
          <p:nvPr/>
        </p:nvSpPr>
        <p:spPr>
          <a:xfrm>
            <a:off x="731520" y="365760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CustomShape 15"/>
          <p:cNvSpPr/>
          <p:nvPr/>
        </p:nvSpPr>
        <p:spPr>
          <a:xfrm>
            <a:off x="731520" y="3657600"/>
            <a:ext cx="72360" cy="13251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CustomShape 16"/>
          <p:cNvSpPr/>
          <p:nvPr/>
        </p:nvSpPr>
        <p:spPr>
          <a:xfrm>
            <a:off x="932760" y="3822120"/>
            <a:ext cx="46627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Accès difficile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32" name="CustomShape 17"/>
          <p:cNvSpPr/>
          <p:nvPr/>
        </p:nvSpPr>
        <p:spPr>
          <a:xfrm>
            <a:off x="932760" y="4224600"/>
            <a:ext cx="46627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Rechercher rapidement par code, nom ou CIN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3" name="CustomShape 18"/>
          <p:cNvSpPr/>
          <p:nvPr/>
        </p:nvSpPr>
        <p:spPr>
          <a:xfrm>
            <a:off x="6309360" y="365760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CustomShape 19"/>
          <p:cNvSpPr/>
          <p:nvPr/>
        </p:nvSpPr>
        <p:spPr>
          <a:xfrm>
            <a:off x="6309360" y="3657600"/>
            <a:ext cx="72360" cy="13251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CustomShape 20"/>
          <p:cNvSpPr/>
          <p:nvPr/>
        </p:nvSpPr>
        <p:spPr>
          <a:xfrm>
            <a:off x="6510600" y="3822120"/>
            <a:ext cx="46627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Traçabilité limitée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36" name="CustomShape 21"/>
          <p:cNvSpPr/>
          <p:nvPr/>
        </p:nvSpPr>
        <p:spPr>
          <a:xfrm>
            <a:off x="6510600" y="4224600"/>
            <a:ext cx="46627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Centraliser les données dans une source unique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7" name="CustomShape 22"/>
          <p:cNvSpPr/>
          <p:nvPr/>
        </p:nvSpPr>
        <p:spPr>
          <a:xfrm>
            <a:off x="822960" y="5806440"/>
            <a:ext cx="10606320" cy="46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Résultat attendu : moins d’erreurs manuelles, une meilleure qualité des données et des opérations plus simples.</a:t>
            </a: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03 • Fonctionnalités de l’application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Un périmètre CRUD avec recherche et validations métier.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04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43" name="CustomShape 6"/>
          <p:cNvSpPr/>
          <p:nvPr/>
        </p:nvSpPr>
        <p:spPr>
          <a:xfrm>
            <a:off x="731520" y="1828800"/>
            <a:ext cx="3382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CustomShape 7"/>
          <p:cNvSpPr/>
          <p:nvPr/>
        </p:nvSpPr>
        <p:spPr>
          <a:xfrm>
            <a:off x="731520" y="1828800"/>
            <a:ext cx="72360" cy="12794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CustomShape 8"/>
          <p:cNvSpPr/>
          <p:nvPr/>
        </p:nvSpPr>
        <p:spPr>
          <a:xfrm>
            <a:off x="932760" y="1993320"/>
            <a:ext cx="301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Créer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46" name="CustomShape 9"/>
          <p:cNvSpPr/>
          <p:nvPr/>
        </p:nvSpPr>
        <p:spPr>
          <a:xfrm>
            <a:off x="932760" y="2395800"/>
            <a:ext cx="301680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Ajouter une personne avec code, nom et CIN.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47" name="CustomShape 10"/>
          <p:cNvSpPr/>
          <p:nvPr/>
        </p:nvSpPr>
        <p:spPr>
          <a:xfrm>
            <a:off x="4526280" y="1828800"/>
            <a:ext cx="3382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CustomShape 11"/>
          <p:cNvSpPr/>
          <p:nvPr/>
        </p:nvSpPr>
        <p:spPr>
          <a:xfrm>
            <a:off x="4526280" y="1828800"/>
            <a:ext cx="72360" cy="12794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CustomShape 12"/>
          <p:cNvSpPr/>
          <p:nvPr/>
        </p:nvSpPr>
        <p:spPr>
          <a:xfrm>
            <a:off x="4727520" y="1993320"/>
            <a:ext cx="301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Consulter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50" name="CustomShape 13"/>
          <p:cNvSpPr/>
          <p:nvPr/>
        </p:nvSpPr>
        <p:spPr>
          <a:xfrm>
            <a:off x="4727520" y="2395800"/>
            <a:ext cx="301680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Afficher la liste et le détail d’une personne.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51" name="CustomShape 14"/>
          <p:cNvSpPr/>
          <p:nvPr/>
        </p:nvSpPr>
        <p:spPr>
          <a:xfrm>
            <a:off x="8321040" y="1828800"/>
            <a:ext cx="3382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CustomShape 15"/>
          <p:cNvSpPr/>
          <p:nvPr/>
        </p:nvSpPr>
        <p:spPr>
          <a:xfrm>
            <a:off x="8321040" y="1828800"/>
            <a:ext cx="72360" cy="12794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CustomShape 16"/>
          <p:cNvSpPr/>
          <p:nvPr/>
        </p:nvSpPr>
        <p:spPr>
          <a:xfrm>
            <a:off x="8522280" y="1993320"/>
            <a:ext cx="301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Modifier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54" name="CustomShape 17"/>
          <p:cNvSpPr/>
          <p:nvPr/>
        </p:nvSpPr>
        <p:spPr>
          <a:xfrm>
            <a:off x="8522280" y="2395800"/>
            <a:ext cx="30168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Mettre à jour un dossier existant.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55" name="CustomShape 18"/>
          <p:cNvSpPr/>
          <p:nvPr/>
        </p:nvSpPr>
        <p:spPr>
          <a:xfrm>
            <a:off x="731520" y="3520440"/>
            <a:ext cx="3382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CustomShape 19"/>
          <p:cNvSpPr/>
          <p:nvPr/>
        </p:nvSpPr>
        <p:spPr>
          <a:xfrm>
            <a:off x="731520" y="3520440"/>
            <a:ext cx="72360" cy="127944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CustomShape 20"/>
          <p:cNvSpPr/>
          <p:nvPr/>
        </p:nvSpPr>
        <p:spPr>
          <a:xfrm>
            <a:off x="932760" y="3684960"/>
            <a:ext cx="301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Supprimer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58" name="CustomShape 21"/>
          <p:cNvSpPr/>
          <p:nvPr/>
        </p:nvSpPr>
        <p:spPr>
          <a:xfrm>
            <a:off x="932760" y="4087440"/>
            <a:ext cx="301680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Supprimer un enregistrement identifié.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59" name="CustomShape 22"/>
          <p:cNvSpPr/>
          <p:nvPr/>
        </p:nvSpPr>
        <p:spPr>
          <a:xfrm>
            <a:off x="4526280" y="3520440"/>
            <a:ext cx="3382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CustomShape 23"/>
          <p:cNvSpPr/>
          <p:nvPr/>
        </p:nvSpPr>
        <p:spPr>
          <a:xfrm>
            <a:off x="4526280" y="3520440"/>
            <a:ext cx="72360" cy="12794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CustomShape 24"/>
          <p:cNvSpPr/>
          <p:nvPr/>
        </p:nvSpPr>
        <p:spPr>
          <a:xfrm>
            <a:off x="4727520" y="3684960"/>
            <a:ext cx="301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Rechercher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62" name="CustomShape 25"/>
          <p:cNvSpPr/>
          <p:nvPr/>
        </p:nvSpPr>
        <p:spPr>
          <a:xfrm>
            <a:off x="4727520" y="4087440"/>
            <a:ext cx="30168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Filtrer par code, nom ou CIN.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63" name="CustomShape 26"/>
          <p:cNvSpPr/>
          <p:nvPr/>
        </p:nvSpPr>
        <p:spPr>
          <a:xfrm>
            <a:off x="8321040" y="3520440"/>
            <a:ext cx="3382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CustomShape 27"/>
          <p:cNvSpPr/>
          <p:nvPr/>
        </p:nvSpPr>
        <p:spPr>
          <a:xfrm>
            <a:off x="8321040" y="3520440"/>
            <a:ext cx="72360" cy="12794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CustomShape 28"/>
          <p:cNvSpPr/>
          <p:nvPr/>
        </p:nvSpPr>
        <p:spPr>
          <a:xfrm>
            <a:off x="8522280" y="3684960"/>
            <a:ext cx="301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Valider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66" name="CustomShape 29"/>
          <p:cNvSpPr/>
          <p:nvPr/>
        </p:nvSpPr>
        <p:spPr>
          <a:xfrm>
            <a:off x="8522280" y="4087440"/>
            <a:ext cx="301680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Afficher des erreurs claires en cas de saisie invalide.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67" name="CustomShape 30"/>
          <p:cNvSpPr/>
          <p:nvPr/>
        </p:nvSpPr>
        <p:spPr>
          <a:xfrm>
            <a:off x="777240" y="5623560"/>
            <a:ext cx="1051488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Règles principales : code unique • nom obligatoire • CIN unique et composé de 8 chiffres.</a:t>
            </a:r>
            <a:endParaRPr b="0" lang="fr-F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-5760" y="159480"/>
            <a:ext cx="12191760" cy="6550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04 • Architecture applicative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Architecture 3-tiers : interface, API et persistance.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72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73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05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74" name="CustomShape 6"/>
          <p:cNvSpPr/>
          <p:nvPr/>
        </p:nvSpPr>
        <p:spPr>
          <a:xfrm>
            <a:off x="731520" y="2057400"/>
            <a:ext cx="2971080" cy="1553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731520" y="2057400"/>
            <a:ext cx="72360" cy="1553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932760" y="2221920"/>
            <a:ext cx="26053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FRONTEND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77" name="CustomShape 9"/>
          <p:cNvSpPr/>
          <p:nvPr/>
        </p:nvSpPr>
        <p:spPr>
          <a:xfrm>
            <a:off x="932760" y="2624400"/>
            <a:ext cx="2605320" cy="104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React 18 + Vite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Interface web 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NGINX en conteneur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Consommation API REST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500" spc="-1" strike="noStrike">
              <a:latin typeface="Arial"/>
            </a:endParaRPr>
          </a:p>
        </p:txBody>
      </p:sp>
      <p:sp>
        <p:nvSpPr>
          <p:cNvPr id="178" name="CustomShape 10"/>
          <p:cNvSpPr/>
          <p:nvPr/>
        </p:nvSpPr>
        <p:spPr>
          <a:xfrm>
            <a:off x="4617720" y="2057400"/>
            <a:ext cx="3014280" cy="1686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4617720" y="2057400"/>
            <a:ext cx="72360" cy="15537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CustomShape 12"/>
          <p:cNvSpPr/>
          <p:nvPr/>
        </p:nvSpPr>
        <p:spPr>
          <a:xfrm>
            <a:off x="4818960" y="2221920"/>
            <a:ext cx="26053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BACKEND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81" name="CustomShape 13"/>
          <p:cNvSpPr/>
          <p:nvPr/>
        </p:nvSpPr>
        <p:spPr>
          <a:xfrm>
            <a:off x="4818960" y="2624400"/>
            <a:ext cx="2605320" cy="113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Java 17 + Spring Boot 3.5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API REST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CRUD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Validation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métier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•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Spring Data JPA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Actuator + Metrics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82" name="CustomShape 14"/>
          <p:cNvSpPr/>
          <p:nvPr/>
        </p:nvSpPr>
        <p:spPr>
          <a:xfrm>
            <a:off x="8503920" y="2057400"/>
            <a:ext cx="2971080" cy="1553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CustomShape 15"/>
          <p:cNvSpPr/>
          <p:nvPr/>
        </p:nvSpPr>
        <p:spPr>
          <a:xfrm>
            <a:off x="8503920" y="2057400"/>
            <a:ext cx="72360" cy="1553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CustomShape 16"/>
          <p:cNvSpPr/>
          <p:nvPr/>
        </p:nvSpPr>
        <p:spPr>
          <a:xfrm>
            <a:off x="8705160" y="2221920"/>
            <a:ext cx="26053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BASE DE DONNÉES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85" name="CustomShape 17"/>
          <p:cNvSpPr/>
          <p:nvPr/>
        </p:nvSpPr>
        <p:spPr>
          <a:xfrm>
            <a:off x="8705160" y="2624400"/>
            <a:ext cx="260532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PostgreSQL 17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Stockage relationnel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86" name="CustomShape 18"/>
          <p:cNvSpPr/>
          <p:nvPr/>
        </p:nvSpPr>
        <p:spPr>
          <a:xfrm>
            <a:off x="3822120" y="2587680"/>
            <a:ext cx="593640" cy="38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CustomShape 19"/>
          <p:cNvSpPr/>
          <p:nvPr/>
        </p:nvSpPr>
        <p:spPr>
          <a:xfrm>
            <a:off x="7708320" y="2587680"/>
            <a:ext cx="593640" cy="38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CustomShape 20"/>
          <p:cNvSpPr/>
          <p:nvPr/>
        </p:nvSpPr>
        <p:spPr>
          <a:xfrm>
            <a:off x="914400" y="4251960"/>
            <a:ext cx="10149120" cy="29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0f1c34"/>
                </a:solidFill>
                <a:latin typeface="Aptos"/>
                <a:ea typeface="DejaVu Sans"/>
              </a:rPr>
              <a:t>Navigateur  →  HTTP /api/personnes  →  Spring Data JPA / JDBC  →  PostgreSQL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189" name="CustomShape 21"/>
          <p:cNvSpPr/>
          <p:nvPr/>
        </p:nvSpPr>
        <p:spPr>
          <a:xfrm>
            <a:off x="1097280" y="5074920"/>
            <a:ext cx="987480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Aptos"/>
                <a:ea typeface="DejaVu Sans"/>
              </a:rPr>
              <a:t>Les responsabilités sont séparées pour faciliter les tests, la maintenance et l’évolution.</a:t>
            </a: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05 • API REST &amp; qualité des données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Des opérations standardisées et des erreurs métier explicites.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93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194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06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95" name="CustomShape 6"/>
          <p:cNvSpPr/>
          <p:nvPr/>
        </p:nvSpPr>
        <p:spPr>
          <a:xfrm>
            <a:off x="731520" y="1783080"/>
            <a:ext cx="4937040" cy="31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f1c34"/>
                </a:solidFill>
                <a:latin typeface="Aptos"/>
                <a:ea typeface="DejaVu Sans"/>
              </a:rPr>
              <a:t>Endpoints principaux</a:t>
            </a:r>
            <a:endParaRPr b="0" lang="fr-FR" sz="1800" spc="-1" strike="noStrike">
              <a:latin typeface="Arial"/>
            </a:endParaRPr>
          </a:p>
        </p:txBody>
      </p:sp>
      <p:graphicFrame>
        <p:nvGraphicFramePr>
          <p:cNvPr id="196" name="Table 7"/>
          <p:cNvGraphicFramePr/>
          <p:nvPr/>
        </p:nvGraphicFramePr>
        <p:xfrm>
          <a:off x="731520" y="2240280"/>
          <a:ext cx="5668920" cy="319968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1463040"/>
              </a:tblGrid>
              <a:tr h="5331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Méthode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1c3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1c3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1c34"/>
                    </a:solidFill>
                  </a:tcPr>
                </a:tc>
              </a:tr>
              <a:tr h="5331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GET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/api/personnes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Lister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5331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GET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/api/personnes/{code}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Détail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1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POST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/api/personnes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Créer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5331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PUT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/api/personnes/{code}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Modifier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2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DELETE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/api/personnes/{code}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f2937"/>
                          </a:solidFill>
                          <a:latin typeface="Calibri"/>
                        </a:rPr>
                        <a:t>Supprimer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97" name="CustomShape 8"/>
          <p:cNvSpPr/>
          <p:nvPr/>
        </p:nvSpPr>
        <p:spPr>
          <a:xfrm>
            <a:off x="6858000" y="2057400"/>
            <a:ext cx="4388400" cy="1188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CustomShape 9"/>
          <p:cNvSpPr/>
          <p:nvPr/>
        </p:nvSpPr>
        <p:spPr>
          <a:xfrm>
            <a:off x="6858000" y="2057400"/>
            <a:ext cx="72360" cy="1188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CustomShape 10"/>
          <p:cNvSpPr/>
          <p:nvPr/>
        </p:nvSpPr>
        <p:spPr>
          <a:xfrm>
            <a:off x="7059240" y="2221920"/>
            <a:ext cx="40226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VALIDATION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00" name="CustomShape 11"/>
          <p:cNvSpPr/>
          <p:nvPr/>
        </p:nvSpPr>
        <p:spPr>
          <a:xfrm>
            <a:off x="7059240" y="2624400"/>
            <a:ext cx="4022640" cy="5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Code obligatoire et unique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Nom obligatoire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CIN : exactement 8 chiffres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01" name="CustomShape 12"/>
          <p:cNvSpPr/>
          <p:nvPr/>
        </p:nvSpPr>
        <p:spPr>
          <a:xfrm>
            <a:off x="6858000" y="3566160"/>
            <a:ext cx="4388400" cy="1188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CustomShape 13"/>
          <p:cNvSpPr/>
          <p:nvPr/>
        </p:nvSpPr>
        <p:spPr>
          <a:xfrm>
            <a:off x="6858000" y="3566160"/>
            <a:ext cx="72360" cy="11880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CustomShape 14"/>
          <p:cNvSpPr/>
          <p:nvPr/>
        </p:nvSpPr>
        <p:spPr>
          <a:xfrm>
            <a:off x="7059240" y="3730680"/>
            <a:ext cx="40226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GESTION DES ERREURS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04" name="CustomShape 15"/>
          <p:cNvSpPr/>
          <p:nvPr/>
        </p:nvSpPr>
        <p:spPr>
          <a:xfrm>
            <a:off x="7059240" y="4133160"/>
            <a:ext cx="4022640" cy="5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404 : personne introuvable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409 : conflit métier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Messages JSON explicites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144000" y="72000"/>
            <a:ext cx="10972080" cy="89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Lancement Local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docker-compose up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-d db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cd backend &amp;&amp; mvn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spring-boot:run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démarre l’API sur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  <a:hlinkClick r:id="rId1"/>
              </a:rPr>
              <a:t>http://localhost:8080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cd frontend &amp;&amp;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npm install &amp;&amp; npm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run dev 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ouvre l’interface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sur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  <a:hlinkClick r:id="rId2"/>
              </a:rPr>
              <a:t>http://localhost:5173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Dockeriser tout le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projet : docker-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compose up --build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Kubernetes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Déployer :    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kubectl apply -k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k8s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helm upgrade --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install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personnes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./helm/personnes \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 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-n personnes --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create-namespace \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 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--set 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postgres.auth.pass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word='bassem!!!</a:t>
            </a: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2026'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 </a:t>
            </a: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06 • Stack technologique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Les outils couvrent le développement, les tests, le déploiement et l’observabilité.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09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10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07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11" name="CustomShape 6"/>
          <p:cNvSpPr/>
          <p:nvPr/>
        </p:nvSpPr>
        <p:spPr>
          <a:xfrm>
            <a:off x="822960" y="1783080"/>
            <a:ext cx="242244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Frontend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12" name="CustomShape 7"/>
          <p:cNvSpPr/>
          <p:nvPr/>
        </p:nvSpPr>
        <p:spPr>
          <a:xfrm>
            <a:off x="3246120" y="1783080"/>
            <a:ext cx="813744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React 18 • Vite • JavaScript • NGINX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13" name="CustomShape 8"/>
          <p:cNvSpPr/>
          <p:nvPr/>
        </p:nvSpPr>
        <p:spPr>
          <a:xfrm>
            <a:off x="822960" y="216720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CustomShape 9"/>
          <p:cNvSpPr/>
          <p:nvPr/>
        </p:nvSpPr>
        <p:spPr>
          <a:xfrm>
            <a:off x="822960" y="2395800"/>
            <a:ext cx="242244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Backend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15" name="CustomShape 10"/>
          <p:cNvSpPr/>
          <p:nvPr/>
        </p:nvSpPr>
        <p:spPr>
          <a:xfrm>
            <a:off x="3246120" y="2395800"/>
            <a:ext cx="8137440" cy="26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Java 17 • Spring Boot 3.5 • Spring Web • JPA • Validation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Actuator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16" name="CustomShape 11"/>
          <p:cNvSpPr/>
          <p:nvPr/>
        </p:nvSpPr>
        <p:spPr>
          <a:xfrm>
            <a:off x="822960" y="277992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CustomShape 12"/>
          <p:cNvSpPr/>
          <p:nvPr/>
        </p:nvSpPr>
        <p:spPr>
          <a:xfrm>
            <a:off x="822960" y="3008520"/>
            <a:ext cx="242244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Données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18" name="CustomShape 13"/>
          <p:cNvSpPr/>
          <p:nvPr/>
        </p:nvSpPr>
        <p:spPr>
          <a:xfrm>
            <a:off x="3246120" y="3008520"/>
            <a:ext cx="8137440" cy="26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PostgreSQL 17 .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Schéma auto-généré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19" name="CustomShape 14"/>
          <p:cNvSpPr/>
          <p:nvPr/>
        </p:nvSpPr>
        <p:spPr>
          <a:xfrm>
            <a:off x="822960" y="339228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CustomShape 15"/>
          <p:cNvSpPr/>
          <p:nvPr/>
        </p:nvSpPr>
        <p:spPr>
          <a:xfrm>
            <a:off x="822960" y="3620880"/>
            <a:ext cx="2422440" cy="49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Conteneurs &amp; orchestration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21" name="CustomShape 16"/>
          <p:cNvSpPr/>
          <p:nvPr/>
        </p:nvSpPr>
        <p:spPr>
          <a:xfrm>
            <a:off x="3246120" y="3620880"/>
            <a:ext cx="813744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Docker • Docker Compose • Kubernetes • Helm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22" name="CustomShape 17"/>
          <p:cNvSpPr/>
          <p:nvPr/>
        </p:nvSpPr>
        <p:spPr>
          <a:xfrm>
            <a:off x="720000" y="408780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CustomShape 18"/>
          <p:cNvSpPr/>
          <p:nvPr/>
        </p:nvSpPr>
        <p:spPr>
          <a:xfrm>
            <a:off x="822960" y="4233600"/>
            <a:ext cx="242244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Cloud &amp; IaC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24" name="CustomShape 19"/>
          <p:cNvSpPr/>
          <p:nvPr/>
        </p:nvSpPr>
        <p:spPr>
          <a:xfrm>
            <a:off x="3246120" y="4233600"/>
            <a:ext cx="813744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AWS • Terraform • ECR • ECS Fargate • ALB • RDS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25" name="CustomShape 20"/>
          <p:cNvSpPr/>
          <p:nvPr/>
        </p:nvSpPr>
        <p:spPr>
          <a:xfrm>
            <a:off x="822960" y="461772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CustomShape 21"/>
          <p:cNvSpPr/>
          <p:nvPr/>
        </p:nvSpPr>
        <p:spPr>
          <a:xfrm>
            <a:off x="822960" y="4846320"/>
            <a:ext cx="242244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Qualité &amp; monitoring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27" name="CustomShape 22"/>
          <p:cNvSpPr/>
          <p:nvPr/>
        </p:nvSpPr>
        <p:spPr>
          <a:xfrm>
            <a:off x="3246120" y="4846320"/>
            <a:ext cx="813744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Maven • Testcontainers • Prometheus • Grafana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28" name="CustomShape 23"/>
          <p:cNvSpPr/>
          <p:nvPr/>
        </p:nvSpPr>
        <p:spPr>
          <a:xfrm>
            <a:off x="822960" y="523044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CustomShape 24"/>
          <p:cNvSpPr/>
          <p:nvPr/>
        </p:nvSpPr>
        <p:spPr>
          <a:xfrm>
            <a:off x="822960" y="5459040"/>
            <a:ext cx="242244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Automatisation </a:t>
            </a:r>
            <a:r>
              <a:rPr b="1" lang="en-US" sz="1500" spc="-1" strike="noStrike">
                <a:solidFill>
                  <a:srgbClr val="2563eb"/>
                </a:solidFill>
                <a:latin typeface="Arial"/>
                <a:ea typeface="Arial"/>
              </a:rPr>
              <a:t>CI/CD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30" name="CustomShape 25"/>
          <p:cNvSpPr/>
          <p:nvPr/>
        </p:nvSpPr>
        <p:spPr>
          <a:xfrm>
            <a:off x="3246120" y="5459040"/>
            <a:ext cx="813744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GitHub Actions • OIDC AWS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31" name="CustomShape 26"/>
          <p:cNvSpPr/>
          <p:nvPr/>
        </p:nvSpPr>
        <p:spPr>
          <a:xfrm>
            <a:off x="822960" y="5843160"/>
            <a:ext cx="10240560" cy="15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07 • CI/CD : du commit au déploiement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GitHub Actions automatise les contrôles et la livraison.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35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36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08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37" name="CustomShape 6"/>
          <p:cNvSpPr/>
          <p:nvPr/>
        </p:nvSpPr>
        <p:spPr>
          <a:xfrm>
            <a:off x="1005840" y="1828800"/>
            <a:ext cx="566280" cy="56628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CustomShape 7"/>
          <p:cNvSpPr/>
          <p:nvPr/>
        </p:nvSpPr>
        <p:spPr>
          <a:xfrm>
            <a:off x="1005840" y="1956960"/>
            <a:ext cx="566280" cy="24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  <a:ea typeface="DejaVu Sans"/>
              </a:rPr>
              <a:t>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39" name="CustomShape 8"/>
          <p:cNvSpPr/>
          <p:nvPr/>
        </p:nvSpPr>
        <p:spPr>
          <a:xfrm>
            <a:off x="502920" y="2606040"/>
            <a:ext cx="159948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Commit / Push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40" name="CustomShape 9"/>
          <p:cNvSpPr/>
          <p:nvPr/>
        </p:nvSpPr>
        <p:spPr>
          <a:xfrm>
            <a:off x="502920" y="3063240"/>
            <a:ext cx="1599480" cy="37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Déclenchement du workflow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41" name="CustomShape 10"/>
          <p:cNvSpPr/>
          <p:nvPr/>
        </p:nvSpPr>
        <p:spPr>
          <a:xfrm>
            <a:off x="1920240" y="1984320"/>
            <a:ext cx="45648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CustomShape 11"/>
          <p:cNvSpPr/>
          <p:nvPr/>
        </p:nvSpPr>
        <p:spPr>
          <a:xfrm>
            <a:off x="2953440" y="1828800"/>
            <a:ext cx="566280" cy="5662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CustomShape 12"/>
          <p:cNvSpPr/>
          <p:nvPr/>
        </p:nvSpPr>
        <p:spPr>
          <a:xfrm>
            <a:off x="2953440" y="1956960"/>
            <a:ext cx="566280" cy="24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  <a:ea typeface="DejaVu Sans"/>
              </a:rPr>
              <a:t>2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44" name="CustomShape 13"/>
          <p:cNvSpPr/>
          <p:nvPr/>
        </p:nvSpPr>
        <p:spPr>
          <a:xfrm>
            <a:off x="2450520" y="2606040"/>
            <a:ext cx="159948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Tests &amp; build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45" name="CustomShape 14"/>
          <p:cNvSpPr/>
          <p:nvPr/>
        </p:nvSpPr>
        <p:spPr>
          <a:xfrm>
            <a:off x="2450520" y="3063240"/>
            <a:ext cx="1599480" cy="37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Maven et build frontend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46" name="CustomShape 15"/>
          <p:cNvSpPr/>
          <p:nvPr/>
        </p:nvSpPr>
        <p:spPr>
          <a:xfrm>
            <a:off x="3867840" y="1984320"/>
            <a:ext cx="45648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CustomShape 16"/>
          <p:cNvSpPr/>
          <p:nvPr/>
        </p:nvSpPr>
        <p:spPr>
          <a:xfrm>
            <a:off x="4901040" y="1828800"/>
            <a:ext cx="566280" cy="5662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CustomShape 17"/>
          <p:cNvSpPr/>
          <p:nvPr/>
        </p:nvSpPr>
        <p:spPr>
          <a:xfrm>
            <a:off x="4901040" y="1956960"/>
            <a:ext cx="566280" cy="24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  <a:ea typeface="DejaVu Sans"/>
              </a:rPr>
              <a:t>3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49" name="CustomShape 18"/>
          <p:cNvSpPr/>
          <p:nvPr/>
        </p:nvSpPr>
        <p:spPr>
          <a:xfrm>
            <a:off x="4398120" y="2606040"/>
            <a:ext cx="159948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Images Docker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50" name="CustomShape 19"/>
          <p:cNvSpPr/>
          <p:nvPr/>
        </p:nvSpPr>
        <p:spPr>
          <a:xfrm>
            <a:off x="4398120" y="3063240"/>
            <a:ext cx="1599480" cy="37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Construction des images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51" name="CustomShape 20"/>
          <p:cNvSpPr/>
          <p:nvPr/>
        </p:nvSpPr>
        <p:spPr>
          <a:xfrm>
            <a:off x="5815440" y="1984320"/>
            <a:ext cx="45648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CustomShape 21"/>
          <p:cNvSpPr/>
          <p:nvPr/>
        </p:nvSpPr>
        <p:spPr>
          <a:xfrm>
            <a:off x="6849000" y="1828800"/>
            <a:ext cx="566280" cy="566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CustomShape 22"/>
          <p:cNvSpPr/>
          <p:nvPr/>
        </p:nvSpPr>
        <p:spPr>
          <a:xfrm>
            <a:off x="6849000" y="1956960"/>
            <a:ext cx="566280" cy="24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  <a:ea typeface="DejaVu Sans"/>
              </a:rPr>
              <a:t>4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54" name="CustomShape 23"/>
          <p:cNvSpPr/>
          <p:nvPr/>
        </p:nvSpPr>
        <p:spPr>
          <a:xfrm>
            <a:off x="6346080" y="2606040"/>
            <a:ext cx="1599480" cy="46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Publication ECR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55" name="CustomShape 24"/>
          <p:cNvSpPr/>
          <p:nvPr/>
        </p:nvSpPr>
        <p:spPr>
          <a:xfrm>
            <a:off x="6346080" y="3063240"/>
            <a:ext cx="1599480" cy="37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Stockage des images AWS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56" name="CustomShape 25"/>
          <p:cNvSpPr/>
          <p:nvPr/>
        </p:nvSpPr>
        <p:spPr>
          <a:xfrm>
            <a:off x="7763400" y="1984320"/>
            <a:ext cx="45648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CustomShape 26"/>
          <p:cNvSpPr/>
          <p:nvPr/>
        </p:nvSpPr>
        <p:spPr>
          <a:xfrm>
            <a:off x="8796600" y="1828800"/>
            <a:ext cx="566280" cy="56628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CustomShape 27"/>
          <p:cNvSpPr/>
          <p:nvPr/>
        </p:nvSpPr>
        <p:spPr>
          <a:xfrm>
            <a:off x="8796600" y="1956960"/>
            <a:ext cx="566280" cy="24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  <a:ea typeface="DejaVu Sans"/>
              </a:rPr>
              <a:t>5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59" name="CustomShape 28"/>
          <p:cNvSpPr/>
          <p:nvPr/>
        </p:nvSpPr>
        <p:spPr>
          <a:xfrm>
            <a:off x="8293680" y="2606040"/>
            <a:ext cx="159948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Déploiement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60" name="CustomShape 29"/>
          <p:cNvSpPr/>
          <p:nvPr/>
        </p:nvSpPr>
        <p:spPr>
          <a:xfrm>
            <a:off x="8293680" y="3063240"/>
            <a:ext cx="159948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Mise à jour du service ECS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61" name="CustomShape 30"/>
          <p:cNvSpPr/>
          <p:nvPr/>
        </p:nvSpPr>
        <p:spPr>
          <a:xfrm>
            <a:off x="9711000" y="1984320"/>
            <a:ext cx="45648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CustomShape 31"/>
          <p:cNvSpPr/>
          <p:nvPr/>
        </p:nvSpPr>
        <p:spPr>
          <a:xfrm>
            <a:off x="10744200" y="1828800"/>
            <a:ext cx="566280" cy="5662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CustomShape 32"/>
          <p:cNvSpPr/>
          <p:nvPr/>
        </p:nvSpPr>
        <p:spPr>
          <a:xfrm>
            <a:off x="10744200" y="1956960"/>
            <a:ext cx="566280" cy="24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  <a:ea typeface="DejaVu Sans"/>
              </a:rPr>
              <a:t>6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64" name="CustomShape 33"/>
          <p:cNvSpPr/>
          <p:nvPr/>
        </p:nvSpPr>
        <p:spPr>
          <a:xfrm>
            <a:off x="10241280" y="2606040"/>
            <a:ext cx="159948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f1c34"/>
                </a:solidFill>
                <a:latin typeface="Aptos"/>
                <a:ea typeface="DejaVu Sans"/>
              </a:rPr>
              <a:t>Health checks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65" name="CustomShape 34"/>
          <p:cNvSpPr/>
          <p:nvPr/>
        </p:nvSpPr>
        <p:spPr>
          <a:xfrm>
            <a:off x="10241280" y="3063240"/>
            <a:ext cx="1599480" cy="37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Vérification de disponibilité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66" name="CustomShape 35"/>
          <p:cNvSpPr/>
          <p:nvPr/>
        </p:nvSpPr>
        <p:spPr>
          <a:xfrm>
            <a:off x="914400" y="4572000"/>
            <a:ext cx="4754160" cy="9136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CustomShape 36"/>
          <p:cNvSpPr/>
          <p:nvPr/>
        </p:nvSpPr>
        <p:spPr>
          <a:xfrm>
            <a:off x="914400" y="4572000"/>
            <a:ext cx="72360" cy="9136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CustomShape 37"/>
          <p:cNvSpPr/>
          <p:nvPr/>
        </p:nvSpPr>
        <p:spPr>
          <a:xfrm>
            <a:off x="1115640" y="4736520"/>
            <a:ext cx="4388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SÉCURITÉ AWS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69" name="CustomShape 38"/>
          <p:cNvSpPr/>
          <p:nvPr/>
        </p:nvSpPr>
        <p:spPr>
          <a:xfrm>
            <a:off x="1115640" y="5139000"/>
            <a:ext cx="4388400" cy="40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OIDC pour éviter les clés AWS long terme stockées dans GitHub.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70" name="CustomShape 39"/>
          <p:cNvSpPr/>
          <p:nvPr/>
        </p:nvSpPr>
        <p:spPr>
          <a:xfrm>
            <a:off x="6400800" y="4572000"/>
            <a:ext cx="4754160" cy="9136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CustomShape 40"/>
          <p:cNvSpPr/>
          <p:nvPr/>
        </p:nvSpPr>
        <p:spPr>
          <a:xfrm>
            <a:off x="6400800" y="4572000"/>
            <a:ext cx="72360" cy="913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CustomShape 41"/>
          <p:cNvSpPr/>
          <p:nvPr/>
        </p:nvSpPr>
        <p:spPr>
          <a:xfrm>
            <a:off x="6602040" y="4736520"/>
            <a:ext cx="4388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OBJECTIF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73" name="CustomShape 42"/>
          <p:cNvSpPr/>
          <p:nvPr/>
        </p:nvSpPr>
        <p:spPr>
          <a:xfrm>
            <a:off x="6602040" y="5139000"/>
            <a:ext cx="43884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Des livraisons reproductibles, contrôlées et traçables.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74" name="CustomShape 43"/>
          <p:cNvSpPr/>
          <p:nvPr/>
        </p:nvSpPr>
        <p:spPr>
          <a:xfrm>
            <a:off x="5904000" y="3888000"/>
            <a:ext cx="47545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Shape 44"/>
          <p:cNvSpPr txBox="1"/>
          <p:nvPr/>
        </p:nvSpPr>
        <p:spPr>
          <a:xfrm>
            <a:off x="648000" y="3672000"/>
            <a:ext cx="4472280" cy="302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6.  OIDC AWS (sans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secrets stockés dans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GitHub)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76" name="TextShape 45"/>
          <p:cNvSpPr txBox="1"/>
          <p:nvPr/>
        </p:nvSpPr>
        <p:spPr>
          <a:xfrm>
            <a:off x="659880" y="3369600"/>
            <a:ext cx="2724120" cy="302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1.  Tests backend (mvn verify)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77" name="TextShape 46"/>
          <p:cNvSpPr txBox="1"/>
          <p:nvPr/>
        </p:nvSpPr>
        <p:spPr>
          <a:xfrm>
            <a:off x="9027360" y="57960"/>
            <a:ext cx="3068640" cy="374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Pipeline GitHub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Actions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39240" y="1034640"/>
            <a:ext cx="12191760" cy="4833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548640" y="292680"/>
            <a:ext cx="11063880" cy="71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f172a"/>
                </a:solidFill>
                <a:latin typeface="Arial"/>
                <a:ea typeface="Arial"/>
              </a:rPr>
              <a:t>Déploiement multi-</a:t>
            </a:r>
            <a:r>
              <a:rPr b="1" lang="en-US" sz="2600" spc="-1" strike="noStrike">
                <a:solidFill>
                  <a:srgbClr val="0f172a"/>
                </a:solidFill>
                <a:latin typeface="Arial"/>
                <a:ea typeface="Arial"/>
              </a:rPr>
              <a:t>environnements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280" name="Lin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ln w="1908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3"/>
          <p:cNvSpPr/>
          <p:nvPr/>
        </p:nvSpPr>
        <p:spPr>
          <a:xfrm>
            <a:off x="548640" y="1371600"/>
            <a:ext cx="3611520" cy="4937400"/>
          </a:xfrm>
          <a:prstGeom prst="roundRect">
            <a:avLst>
              <a:gd name="adj" fmla="val 3038"/>
            </a:avLst>
          </a:prstGeom>
          <a:solidFill>
            <a:srgbClr val="f1f5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CustomShape 4"/>
          <p:cNvSpPr/>
          <p:nvPr/>
        </p:nvSpPr>
        <p:spPr>
          <a:xfrm>
            <a:off x="548640" y="1371600"/>
            <a:ext cx="3611520" cy="91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5"/>
          <p:cNvSpPr/>
          <p:nvPr/>
        </p:nvSpPr>
        <p:spPr>
          <a:xfrm>
            <a:off x="777240" y="1691640"/>
            <a:ext cx="31543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Loc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al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84" name="CustomShape 6"/>
          <p:cNvSpPr/>
          <p:nvPr/>
        </p:nvSpPr>
        <p:spPr>
          <a:xfrm>
            <a:off x="777240" y="237744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Docker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Compose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85" name="CustomShape 7"/>
          <p:cNvSpPr/>
          <p:nvPr/>
        </p:nvSpPr>
        <p:spPr>
          <a:xfrm>
            <a:off x="777240" y="301752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PostgreSQL :543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6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86" name="CustomShape 8"/>
          <p:cNvSpPr/>
          <p:nvPr/>
        </p:nvSpPr>
        <p:spPr>
          <a:xfrm>
            <a:off x="777240" y="365760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Back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end :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8080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87" name="CustomShape 9"/>
          <p:cNvSpPr/>
          <p:nvPr/>
        </p:nvSpPr>
        <p:spPr>
          <a:xfrm>
            <a:off x="777240" y="429768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Frontend :3000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88" name="CustomShape 10"/>
          <p:cNvSpPr/>
          <p:nvPr/>
        </p:nvSpPr>
        <p:spPr>
          <a:xfrm>
            <a:off x="777240" y="493776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Prometheus +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Grafana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89" name="CustomShape 11"/>
          <p:cNvSpPr/>
          <p:nvPr/>
        </p:nvSpPr>
        <p:spPr>
          <a:xfrm>
            <a:off x="4389120" y="1371600"/>
            <a:ext cx="3611520" cy="4937400"/>
          </a:xfrm>
          <a:prstGeom prst="roundRect">
            <a:avLst>
              <a:gd name="adj" fmla="val 3038"/>
            </a:avLst>
          </a:prstGeom>
          <a:solidFill>
            <a:srgbClr val="f1f5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12"/>
          <p:cNvSpPr/>
          <p:nvPr/>
        </p:nvSpPr>
        <p:spPr>
          <a:xfrm>
            <a:off x="4389120" y="1371600"/>
            <a:ext cx="3611520" cy="91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CustomShape 13"/>
          <p:cNvSpPr/>
          <p:nvPr/>
        </p:nvSpPr>
        <p:spPr>
          <a:xfrm>
            <a:off x="4617720" y="1691640"/>
            <a:ext cx="31543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Kubernetes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92" name="CustomShape 14"/>
          <p:cNvSpPr/>
          <p:nvPr/>
        </p:nvSpPr>
        <p:spPr>
          <a:xfrm>
            <a:off x="4617720" y="237744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Chart Helm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93" name="CustomShape 15"/>
          <p:cNvSpPr/>
          <p:nvPr/>
        </p:nvSpPr>
        <p:spPr>
          <a:xfrm>
            <a:off x="4617720" y="301752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Namespace personnes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94" name="CustomShape 16"/>
          <p:cNvSpPr/>
          <p:nvPr/>
        </p:nvSpPr>
        <p:spPr>
          <a:xfrm>
            <a:off x="4617720" y="365760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Ingress + Minikube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95" name="CustomShape 17"/>
          <p:cNvSpPr/>
          <p:nvPr/>
        </p:nvSpPr>
        <p:spPr>
          <a:xfrm>
            <a:off x="4617720" y="429768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Port-forward monitoring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96" name="CustomShape 18"/>
          <p:cNvSpPr/>
          <p:nvPr/>
        </p:nvSpPr>
        <p:spPr>
          <a:xfrm>
            <a:off x="4617720" y="493776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Pods répliqués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97" name="CustomShape 19"/>
          <p:cNvSpPr/>
          <p:nvPr/>
        </p:nvSpPr>
        <p:spPr>
          <a:xfrm>
            <a:off x="8229600" y="1371600"/>
            <a:ext cx="3611520" cy="4937400"/>
          </a:xfrm>
          <a:prstGeom prst="roundRect">
            <a:avLst>
              <a:gd name="adj" fmla="val 3038"/>
            </a:avLst>
          </a:prstGeom>
          <a:solidFill>
            <a:srgbClr val="f1f5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20"/>
          <p:cNvSpPr/>
          <p:nvPr/>
        </p:nvSpPr>
        <p:spPr>
          <a:xfrm>
            <a:off x="8229600" y="1371600"/>
            <a:ext cx="3611520" cy="91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CustomShape 21"/>
          <p:cNvSpPr/>
          <p:nvPr/>
        </p:nvSpPr>
        <p:spPr>
          <a:xfrm>
            <a:off x="8458200" y="1691640"/>
            <a:ext cx="31543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AWS Cloud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00" name="CustomShape 22"/>
          <p:cNvSpPr/>
          <p:nvPr/>
        </p:nvSpPr>
        <p:spPr>
          <a:xfrm>
            <a:off x="8458200" y="237744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Terraform IaC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01" name="CustomShape 23"/>
          <p:cNvSpPr/>
          <p:nvPr/>
        </p:nvSpPr>
        <p:spPr>
          <a:xfrm>
            <a:off x="8458200" y="301752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ECS Fargate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02" name="CustomShape 24"/>
          <p:cNvSpPr/>
          <p:nvPr/>
        </p:nvSpPr>
        <p:spPr>
          <a:xfrm>
            <a:off x="8458200" y="365760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ALB + ECR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03" name="CustomShape 25"/>
          <p:cNvSpPr/>
          <p:nvPr/>
        </p:nvSpPr>
        <p:spPr>
          <a:xfrm>
            <a:off x="8458200" y="429768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RDS PostgreSQL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04" name="CustomShape 26"/>
          <p:cNvSpPr/>
          <p:nvPr/>
        </p:nvSpPr>
        <p:spPr>
          <a:xfrm>
            <a:off x="8458200" y="4937760"/>
            <a:ext cx="3154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OIDC GitHub Actions</a:t>
            </a:r>
            <a:endParaRPr b="0" lang="fr-F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08 • Kubernetes &amp; Helm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7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Déployer de manière déclarative et gérer les composants de l’application.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8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09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09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10" name="CustomShape 6"/>
          <p:cNvSpPr/>
          <p:nvPr/>
        </p:nvSpPr>
        <p:spPr>
          <a:xfrm>
            <a:off x="731520" y="1828800"/>
            <a:ext cx="3199680" cy="13708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CustomShape 7"/>
          <p:cNvSpPr/>
          <p:nvPr/>
        </p:nvSpPr>
        <p:spPr>
          <a:xfrm>
            <a:off x="731520" y="1828800"/>
            <a:ext cx="72360" cy="1370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2" name="CustomShape 8"/>
          <p:cNvSpPr/>
          <p:nvPr/>
        </p:nvSpPr>
        <p:spPr>
          <a:xfrm>
            <a:off x="932760" y="1993320"/>
            <a:ext cx="28339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FRONTEND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13" name="CustomShape 9"/>
          <p:cNvSpPr/>
          <p:nvPr/>
        </p:nvSpPr>
        <p:spPr>
          <a:xfrm>
            <a:off x="932760" y="2395800"/>
            <a:ext cx="283392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Pods React / NGINX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Service + Ingress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4" name="CustomShape 10"/>
          <p:cNvSpPr/>
          <p:nvPr/>
        </p:nvSpPr>
        <p:spPr>
          <a:xfrm>
            <a:off x="4480560" y="1828800"/>
            <a:ext cx="3199680" cy="13708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CustomShape 11"/>
          <p:cNvSpPr/>
          <p:nvPr/>
        </p:nvSpPr>
        <p:spPr>
          <a:xfrm>
            <a:off x="4480560" y="1828800"/>
            <a:ext cx="72360" cy="13708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CustomShape 12"/>
          <p:cNvSpPr/>
          <p:nvPr/>
        </p:nvSpPr>
        <p:spPr>
          <a:xfrm>
            <a:off x="4681800" y="1993320"/>
            <a:ext cx="28339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BACKEND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17" name="CustomShape 13"/>
          <p:cNvSpPr/>
          <p:nvPr/>
        </p:nvSpPr>
        <p:spPr>
          <a:xfrm>
            <a:off x="4681800" y="2395800"/>
            <a:ext cx="283392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Pods Spring Boot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Service API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8" name="CustomShape 14"/>
          <p:cNvSpPr/>
          <p:nvPr/>
        </p:nvSpPr>
        <p:spPr>
          <a:xfrm>
            <a:off x="8229600" y="1828800"/>
            <a:ext cx="3199680" cy="13708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9" name="CustomShape 15"/>
          <p:cNvSpPr/>
          <p:nvPr/>
        </p:nvSpPr>
        <p:spPr>
          <a:xfrm>
            <a:off x="8229600" y="1828800"/>
            <a:ext cx="72360" cy="13708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0" name="CustomShape 16"/>
          <p:cNvSpPr/>
          <p:nvPr/>
        </p:nvSpPr>
        <p:spPr>
          <a:xfrm>
            <a:off x="8430840" y="1993320"/>
            <a:ext cx="28339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PERSISTANCE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21" name="CustomShape 17"/>
          <p:cNvSpPr/>
          <p:nvPr/>
        </p:nvSpPr>
        <p:spPr>
          <a:xfrm>
            <a:off x="8430840" y="2395800"/>
            <a:ext cx="283392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PostgreSQL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Stockage et configuration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2" name="CustomShape 18"/>
          <p:cNvSpPr/>
          <p:nvPr/>
        </p:nvSpPr>
        <p:spPr>
          <a:xfrm>
            <a:off x="822960" y="3703320"/>
            <a:ext cx="10514880" cy="31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f1c34"/>
                </a:solidFill>
                <a:latin typeface="Aptos"/>
                <a:ea typeface="DejaVu Sans"/>
              </a:rPr>
              <a:t>Helm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23" name="CustomShape 19"/>
          <p:cNvSpPr/>
          <p:nvPr/>
        </p:nvSpPr>
        <p:spPr>
          <a:xfrm>
            <a:off x="822960" y="4114800"/>
            <a:ext cx="10514880" cy="9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1836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1f2937"/>
                </a:solidFill>
                <a:latin typeface="Aptos"/>
                <a:ea typeface="DejaVu Sans"/>
              </a:rPr>
              <a:t>Versionner les paramètres et les ressources Kubernetes dans un chart.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1f2937"/>
                </a:solidFill>
                <a:latin typeface="Aptos"/>
                <a:ea typeface="DejaVu Sans"/>
              </a:rPr>
              <a:t>Déployer dans un namespace dédié et vérifier l’état des pods.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1f2937"/>
                </a:solidFill>
                <a:latin typeface="Aptos"/>
                <a:ea typeface="DejaVu Sans"/>
              </a:rPr>
              <a:t>Utiliser les probes, les ressources CPU/mémoire et la gestion des secrets en environnement cible.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4" name="CustomShape 20"/>
          <p:cNvSpPr/>
          <p:nvPr/>
        </p:nvSpPr>
        <p:spPr>
          <a:xfrm>
            <a:off x="822960" y="5806440"/>
            <a:ext cx="102405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Aptos"/>
                <a:ea typeface="DejaVu Sans"/>
              </a:rPr>
              <a:t>Environnement de démonstration local : Minikube.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09 • Infrastructure AWS avec Terraform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26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Infrastructure as Code pour rendre l’environnement reproductible.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28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29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10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30" name="CustomShape 6"/>
          <p:cNvSpPr/>
          <p:nvPr/>
        </p:nvSpPr>
        <p:spPr>
          <a:xfrm>
            <a:off x="685800" y="1828800"/>
            <a:ext cx="255960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1" name="CustomShape 7"/>
          <p:cNvSpPr/>
          <p:nvPr/>
        </p:nvSpPr>
        <p:spPr>
          <a:xfrm>
            <a:off x="685800" y="1828800"/>
            <a:ext cx="72360" cy="1325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2" name="CustomShape 8"/>
          <p:cNvSpPr/>
          <p:nvPr/>
        </p:nvSpPr>
        <p:spPr>
          <a:xfrm>
            <a:off x="887040" y="1993320"/>
            <a:ext cx="21938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RÉSEAU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33" name="CustomShape 9"/>
          <p:cNvSpPr/>
          <p:nvPr/>
        </p:nvSpPr>
        <p:spPr>
          <a:xfrm>
            <a:off x="887040" y="2395800"/>
            <a:ext cx="2193840" cy="5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VPC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Sous-réseaux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Security Groups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4" name="CustomShape 10"/>
          <p:cNvSpPr/>
          <p:nvPr/>
        </p:nvSpPr>
        <p:spPr>
          <a:xfrm>
            <a:off x="3429000" y="1828800"/>
            <a:ext cx="255960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5" name="CustomShape 11"/>
          <p:cNvSpPr/>
          <p:nvPr/>
        </p:nvSpPr>
        <p:spPr>
          <a:xfrm>
            <a:off x="3429000" y="1828800"/>
            <a:ext cx="72360" cy="13251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6" name="CustomShape 12"/>
          <p:cNvSpPr/>
          <p:nvPr/>
        </p:nvSpPr>
        <p:spPr>
          <a:xfrm>
            <a:off x="3630240" y="1993320"/>
            <a:ext cx="21938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ENTRÉE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37" name="CustomShape 13"/>
          <p:cNvSpPr/>
          <p:nvPr/>
        </p:nvSpPr>
        <p:spPr>
          <a:xfrm>
            <a:off x="3630240" y="2395800"/>
            <a:ext cx="219384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ALB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Point d’accès HTTP/HTTPS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8" name="CustomShape 14"/>
          <p:cNvSpPr/>
          <p:nvPr/>
        </p:nvSpPr>
        <p:spPr>
          <a:xfrm>
            <a:off x="6172200" y="1828800"/>
            <a:ext cx="255960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9" name="CustomShape 15"/>
          <p:cNvSpPr/>
          <p:nvPr/>
        </p:nvSpPr>
        <p:spPr>
          <a:xfrm>
            <a:off x="6172200" y="1828800"/>
            <a:ext cx="72360" cy="13251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0" name="CustomShape 16"/>
          <p:cNvSpPr/>
          <p:nvPr/>
        </p:nvSpPr>
        <p:spPr>
          <a:xfrm>
            <a:off x="6373440" y="1993320"/>
            <a:ext cx="21938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APPLICATION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41" name="CustomShape 17"/>
          <p:cNvSpPr/>
          <p:nvPr/>
        </p:nvSpPr>
        <p:spPr>
          <a:xfrm>
            <a:off x="6373440" y="2395800"/>
            <a:ext cx="219384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ECS Fargate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Services frontend/backend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2" name="CustomShape 18"/>
          <p:cNvSpPr/>
          <p:nvPr/>
        </p:nvSpPr>
        <p:spPr>
          <a:xfrm>
            <a:off x="8915400" y="1828800"/>
            <a:ext cx="255960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3" name="CustomShape 19"/>
          <p:cNvSpPr/>
          <p:nvPr/>
        </p:nvSpPr>
        <p:spPr>
          <a:xfrm>
            <a:off x="8915400" y="1828800"/>
            <a:ext cx="72360" cy="13251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4" name="CustomShape 20"/>
          <p:cNvSpPr/>
          <p:nvPr/>
        </p:nvSpPr>
        <p:spPr>
          <a:xfrm>
            <a:off x="9116640" y="1993320"/>
            <a:ext cx="21938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DONNÉES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45" name="CustomShape 21"/>
          <p:cNvSpPr/>
          <p:nvPr/>
        </p:nvSpPr>
        <p:spPr>
          <a:xfrm>
            <a:off x="9116640" y="2395800"/>
            <a:ext cx="219384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RDS PostgreSQL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ECR pour les images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46" name="CustomShape 22"/>
          <p:cNvSpPr/>
          <p:nvPr/>
        </p:nvSpPr>
        <p:spPr>
          <a:xfrm>
            <a:off x="914400" y="3840480"/>
            <a:ext cx="10149120" cy="32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0f1c34"/>
                </a:solidFill>
                <a:latin typeface="Aptos"/>
                <a:ea typeface="DejaVu Sans"/>
              </a:rPr>
              <a:t>Terraform : init  →  validate  →  plan  →  apply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347" name="CustomShape 23"/>
          <p:cNvSpPr/>
          <p:nvPr/>
        </p:nvSpPr>
        <p:spPr>
          <a:xfrm>
            <a:off x="1005840" y="4572000"/>
            <a:ext cx="9874800" cy="94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1836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IAM et OIDC pour l’accès du pipeline GitHub Actions.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Séparer les sous-réseaux et limiter les accès réseau selon le besoin.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Contrôler les coûts et détruire les ressources de laboratoire lorsqu’elles ne sont plus utilisées.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48" name="CustomShape 24"/>
          <p:cNvSpPr/>
          <p:nvPr/>
        </p:nvSpPr>
        <p:spPr>
          <a:xfrm>
            <a:off x="1005840" y="5897880"/>
            <a:ext cx="9874800" cy="20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Note : le document décrit une cible AWS basée sur ECS Fargate, et non un cluster EKS.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10 • Tests, monitoring et observabilité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Supervision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50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Contrôler la qualité avant livraison et suivre l’état en exécution.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52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53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11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54" name="CustomShape 6"/>
          <p:cNvSpPr/>
          <p:nvPr/>
        </p:nvSpPr>
        <p:spPr>
          <a:xfrm>
            <a:off x="731520" y="1828800"/>
            <a:ext cx="3336840" cy="1508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CustomShape 7"/>
          <p:cNvSpPr/>
          <p:nvPr/>
        </p:nvSpPr>
        <p:spPr>
          <a:xfrm>
            <a:off x="731520" y="1828800"/>
            <a:ext cx="72360" cy="1508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CustomShape 8"/>
          <p:cNvSpPr/>
          <p:nvPr/>
        </p:nvSpPr>
        <p:spPr>
          <a:xfrm>
            <a:off x="932760" y="1993320"/>
            <a:ext cx="2971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TESTS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57" name="CustomShape 9"/>
          <p:cNvSpPr/>
          <p:nvPr/>
        </p:nvSpPr>
        <p:spPr>
          <a:xfrm>
            <a:off x="932760" y="2395800"/>
            <a:ext cx="2971080" cy="5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Tests unitaires et d’intégration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Testcontainers avec PostgreSQL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Commande : mvn verify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8" name="CustomShape 10"/>
          <p:cNvSpPr/>
          <p:nvPr/>
        </p:nvSpPr>
        <p:spPr>
          <a:xfrm>
            <a:off x="4434840" y="1828800"/>
            <a:ext cx="3336840" cy="1508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CustomShape 11"/>
          <p:cNvSpPr/>
          <p:nvPr/>
        </p:nvSpPr>
        <p:spPr>
          <a:xfrm>
            <a:off x="4434840" y="1828800"/>
            <a:ext cx="72360" cy="15080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CustomShape 12"/>
          <p:cNvSpPr/>
          <p:nvPr/>
        </p:nvSpPr>
        <p:spPr>
          <a:xfrm>
            <a:off x="4636080" y="1993320"/>
            <a:ext cx="2971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PROMETHEUS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61" name="CustomShape 13"/>
          <p:cNvSpPr/>
          <p:nvPr/>
        </p:nvSpPr>
        <p:spPr>
          <a:xfrm>
            <a:off x="4636080" y="2395800"/>
            <a:ext cx="2971080" cy="58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Collecte des métriques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Taux de requêtes et latence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Métriques Actuator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2" name="CustomShape 14"/>
          <p:cNvSpPr/>
          <p:nvPr/>
        </p:nvSpPr>
        <p:spPr>
          <a:xfrm>
            <a:off x="8138160" y="1828800"/>
            <a:ext cx="3336840" cy="1508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3" name="CustomShape 15"/>
          <p:cNvSpPr/>
          <p:nvPr/>
        </p:nvSpPr>
        <p:spPr>
          <a:xfrm>
            <a:off x="8138160" y="1828800"/>
            <a:ext cx="72360" cy="15080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CustomShape 16"/>
          <p:cNvSpPr/>
          <p:nvPr/>
        </p:nvSpPr>
        <p:spPr>
          <a:xfrm>
            <a:off x="8339400" y="1993320"/>
            <a:ext cx="2971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GRAFANA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65" name="CustomShape 17"/>
          <p:cNvSpPr/>
          <p:nvPr/>
        </p:nvSpPr>
        <p:spPr>
          <a:xfrm>
            <a:off x="8339400" y="2395800"/>
            <a:ext cx="2971080" cy="85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Tableaux de bord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Santé des services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▸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CPU / mémoire en temps réel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▸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Détection rapide des incidents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66" name="CustomShape 18"/>
          <p:cNvSpPr/>
          <p:nvPr/>
        </p:nvSpPr>
        <p:spPr>
          <a:xfrm>
            <a:off x="868680" y="4069080"/>
            <a:ext cx="10240560" cy="31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f1c34"/>
                </a:solidFill>
                <a:latin typeface="Aptos"/>
                <a:ea typeface="DejaVu Sans"/>
              </a:rPr>
              <a:t>Indicateurs à suivre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67" name="CustomShape 19"/>
          <p:cNvSpPr/>
          <p:nvPr/>
        </p:nvSpPr>
        <p:spPr>
          <a:xfrm>
            <a:off x="914400" y="4526280"/>
            <a:ext cx="10240560" cy="141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1836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Disponibilité du backend et état des contrôles de santé.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▸  Spring Actuator — health &amp; metrics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Temps de réponse, erreurs HTTP et volume des requêtes.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1f2937"/>
                </a:solidFill>
                <a:latin typeface="Aptos"/>
                <a:ea typeface="DejaVu Sans"/>
              </a:rPr>
              <a:t>Consommation CPU/mémoire et stabilité des déploiements.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▸  </a:t>
            </a:r>
            <a:r>
              <a:rPr b="0" lang="en-US" sz="1500" spc="-1" strike="noStrike">
                <a:solidFill>
                  <a:srgbClr val="1e293b"/>
                </a:solidFill>
                <a:latin typeface="Arial"/>
                <a:ea typeface="Arial"/>
              </a:rPr>
              <a:t>Disponibilité &amp; latence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68" name="CustomShape 20"/>
          <p:cNvSpPr/>
          <p:nvPr/>
        </p:nvSpPr>
        <p:spPr>
          <a:xfrm>
            <a:off x="868680" y="5943600"/>
            <a:ext cx="10240560" cy="20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Endpoint de santé : /actuator/health  •  Métriques : /actuator/prometheus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-5760" y="30960"/>
            <a:ext cx="12191760" cy="3065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" descr=""/>
          <p:cNvPicPr/>
          <p:nvPr/>
        </p:nvPicPr>
        <p:blipFill>
          <a:blip r:embed="rId1"/>
          <a:stretch/>
        </p:blipFill>
        <p:spPr>
          <a:xfrm>
            <a:off x="-5760" y="2160000"/>
            <a:ext cx="12191760" cy="4698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11 • Sécurité &amp; bonnes pratiques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72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La sécurité est intégrée aux données, à l’application et au pipeline.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74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12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731520" y="1783080"/>
            <a:ext cx="5074200" cy="1005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7" name="CustomShape 7"/>
          <p:cNvSpPr/>
          <p:nvPr/>
        </p:nvSpPr>
        <p:spPr>
          <a:xfrm>
            <a:off x="731520" y="1783080"/>
            <a:ext cx="72360" cy="10051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8" name="CustomShape 8"/>
          <p:cNvSpPr/>
          <p:nvPr/>
        </p:nvSpPr>
        <p:spPr>
          <a:xfrm>
            <a:off x="932760" y="1947600"/>
            <a:ext cx="47084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Validation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932760" y="2350080"/>
            <a:ext cx="4708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Contrôles côté API et règles métier.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0" name="CustomShape 10"/>
          <p:cNvSpPr/>
          <p:nvPr/>
        </p:nvSpPr>
        <p:spPr>
          <a:xfrm>
            <a:off x="6309360" y="1783080"/>
            <a:ext cx="5074200" cy="1005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CustomShape 11"/>
          <p:cNvSpPr/>
          <p:nvPr/>
        </p:nvSpPr>
        <p:spPr>
          <a:xfrm>
            <a:off x="6309360" y="1783080"/>
            <a:ext cx="72360" cy="10051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CustomShape 12"/>
          <p:cNvSpPr/>
          <p:nvPr/>
        </p:nvSpPr>
        <p:spPr>
          <a:xfrm>
            <a:off x="6510600" y="1947600"/>
            <a:ext cx="47084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Accès AWS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83" name="CustomShape 13"/>
          <p:cNvSpPr/>
          <p:nvPr/>
        </p:nvSpPr>
        <p:spPr>
          <a:xfrm>
            <a:off x="6510600" y="2350080"/>
            <a:ext cx="4708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IAM à privilèges minimaux et OIDC.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4" name="CustomShape 14"/>
          <p:cNvSpPr/>
          <p:nvPr/>
        </p:nvSpPr>
        <p:spPr>
          <a:xfrm>
            <a:off x="731520" y="3108960"/>
            <a:ext cx="5074200" cy="1005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CustomShape 15"/>
          <p:cNvSpPr/>
          <p:nvPr/>
        </p:nvSpPr>
        <p:spPr>
          <a:xfrm>
            <a:off x="731520" y="3108960"/>
            <a:ext cx="72360" cy="10051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6" name="CustomShape 16"/>
          <p:cNvSpPr/>
          <p:nvPr/>
        </p:nvSpPr>
        <p:spPr>
          <a:xfrm>
            <a:off x="932760" y="3273480"/>
            <a:ext cx="47084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Secrets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87" name="CustomShape 17"/>
          <p:cNvSpPr/>
          <p:nvPr/>
        </p:nvSpPr>
        <p:spPr>
          <a:xfrm>
            <a:off x="932760" y="3675960"/>
            <a:ext cx="4708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Ne pas versionner de mots de passe ni de clés.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8" name="CustomShape 18"/>
          <p:cNvSpPr/>
          <p:nvPr/>
        </p:nvSpPr>
        <p:spPr>
          <a:xfrm>
            <a:off x="6309360" y="3108960"/>
            <a:ext cx="5074200" cy="1005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9" name="CustomShape 19"/>
          <p:cNvSpPr/>
          <p:nvPr/>
        </p:nvSpPr>
        <p:spPr>
          <a:xfrm>
            <a:off x="6309360" y="3108960"/>
            <a:ext cx="72360" cy="100512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0" name="CustomShape 20"/>
          <p:cNvSpPr/>
          <p:nvPr/>
        </p:nvSpPr>
        <p:spPr>
          <a:xfrm>
            <a:off x="6510600" y="3273480"/>
            <a:ext cx="47084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Réseau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91" name="CustomShape 21"/>
          <p:cNvSpPr/>
          <p:nvPr/>
        </p:nvSpPr>
        <p:spPr>
          <a:xfrm>
            <a:off x="6510600" y="3675960"/>
            <a:ext cx="4708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Exposer uniquement les services nécessaires.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92" name="CustomShape 22"/>
          <p:cNvSpPr/>
          <p:nvPr/>
        </p:nvSpPr>
        <p:spPr>
          <a:xfrm>
            <a:off x="731520" y="4434840"/>
            <a:ext cx="5074200" cy="1005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3" name="CustomShape 23"/>
          <p:cNvSpPr/>
          <p:nvPr/>
        </p:nvSpPr>
        <p:spPr>
          <a:xfrm>
            <a:off x="731520" y="4434840"/>
            <a:ext cx="72360" cy="10051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4" name="CustomShape 24"/>
          <p:cNvSpPr/>
          <p:nvPr/>
        </p:nvSpPr>
        <p:spPr>
          <a:xfrm>
            <a:off x="932760" y="4599360"/>
            <a:ext cx="47084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Images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95" name="CustomShape 25"/>
          <p:cNvSpPr/>
          <p:nvPr/>
        </p:nvSpPr>
        <p:spPr>
          <a:xfrm>
            <a:off x="932760" y="5001840"/>
            <a:ext cx="4708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Construire des images maîtrisées et les mettre à jour.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96" name="CustomShape 26"/>
          <p:cNvSpPr/>
          <p:nvPr/>
        </p:nvSpPr>
        <p:spPr>
          <a:xfrm>
            <a:off x="6309360" y="4434840"/>
            <a:ext cx="5074200" cy="1005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7" name="CustomShape 27"/>
          <p:cNvSpPr/>
          <p:nvPr/>
        </p:nvSpPr>
        <p:spPr>
          <a:xfrm>
            <a:off x="6309360" y="4434840"/>
            <a:ext cx="72360" cy="10051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8" name="CustomShape 28"/>
          <p:cNvSpPr/>
          <p:nvPr/>
        </p:nvSpPr>
        <p:spPr>
          <a:xfrm>
            <a:off x="6510600" y="4599360"/>
            <a:ext cx="47084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Exploitation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99" name="CustomShape 29"/>
          <p:cNvSpPr/>
          <p:nvPr/>
        </p:nvSpPr>
        <p:spPr>
          <a:xfrm>
            <a:off x="6510600" y="5001840"/>
            <a:ext cx="4708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Monitoring, logs et vérification de santé.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00" name="CustomShape 30"/>
          <p:cNvSpPr/>
          <p:nvPr/>
        </p:nvSpPr>
        <p:spPr>
          <a:xfrm>
            <a:off x="822960" y="5897880"/>
            <a:ext cx="10240560" cy="20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Aptos"/>
                <a:ea typeface="DejaVu Sans"/>
              </a:rPr>
              <a:t>Avant une démonstration publique, remplacer les identifiants d’exemple et vérifier la configuration des secrets.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12 • Valeur métier &amp; état du projet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Une base concrète pour démontrer des compétences Full Stack et DevOps.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04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05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13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06" name="CustomShape 6"/>
          <p:cNvSpPr/>
          <p:nvPr/>
        </p:nvSpPr>
        <p:spPr>
          <a:xfrm>
            <a:off x="731520" y="182880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7" name="CustomShape 7"/>
          <p:cNvSpPr/>
          <p:nvPr/>
        </p:nvSpPr>
        <p:spPr>
          <a:xfrm>
            <a:off x="731520" y="1828800"/>
            <a:ext cx="72360" cy="13251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8" name="CustomShape 8"/>
          <p:cNvSpPr/>
          <p:nvPr/>
        </p:nvSpPr>
        <p:spPr>
          <a:xfrm>
            <a:off x="932760" y="1993320"/>
            <a:ext cx="46627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VALEUR MÉTIER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09" name="CustomShape 9"/>
          <p:cNvSpPr/>
          <p:nvPr/>
        </p:nvSpPr>
        <p:spPr>
          <a:xfrm>
            <a:off x="932760" y="2395800"/>
            <a:ext cx="466272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Gain de temps • Données plus fiables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Réduction des erreurs • Traçabilité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10" name="CustomShape 10"/>
          <p:cNvSpPr/>
          <p:nvPr/>
        </p:nvSpPr>
        <p:spPr>
          <a:xfrm>
            <a:off x="6217920" y="182880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CustomShape 11"/>
          <p:cNvSpPr/>
          <p:nvPr/>
        </p:nvSpPr>
        <p:spPr>
          <a:xfrm>
            <a:off x="6217920" y="1828800"/>
            <a:ext cx="72360" cy="1325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CustomShape 12"/>
          <p:cNvSpPr/>
          <p:nvPr/>
        </p:nvSpPr>
        <p:spPr>
          <a:xfrm>
            <a:off x="6419160" y="1993320"/>
            <a:ext cx="46627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f1c34"/>
                </a:solidFill>
                <a:latin typeface="Aptos"/>
                <a:ea typeface="DejaVu Sans"/>
              </a:rPr>
              <a:t>VALEUR TECHNIQUE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13" name="CustomShape 13"/>
          <p:cNvSpPr/>
          <p:nvPr/>
        </p:nvSpPr>
        <p:spPr>
          <a:xfrm>
            <a:off x="6419160" y="2395800"/>
            <a:ext cx="466272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Architecture claire • Tests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937"/>
                </a:solidFill>
                <a:latin typeface="Aptos"/>
                <a:ea typeface="DejaVu Sans"/>
              </a:rPr>
              <a:t>Automatisation • Observabilité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14" name="CustomShape 14"/>
          <p:cNvSpPr/>
          <p:nvPr/>
        </p:nvSpPr>
        <p:spPr>
          <a:xfrm>
            <a:off x="822960" y="3703320"/>
            <a:ext cx="10423440" cy="31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f1c34"/>
                </a:solidFill>
                <a:latin typeface="Aptos"/>
                <a:ea typeface="DejaVu Sans"/>
              </a:rPr>
              <a:t>État décrit dans la documentation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15" name="CustomShape 15"/>
          <p:cNvSpPr/>
          <p:nvPr/>
        </p:nvSpPr>
        <p:spPr>
          <a:xfrm>
            <a:off x="914400" y="4160520"/>
            <a:ext cx="10057680" cy="9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1836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1f2937"/>
                </a:solidFill>
                <a:latin typeface="Aptos"/>
                <a:ea typeface="DejaVu Sans"/>
              </a:rPr>
              <a:t>Fonctionnel en local : React, Spring Boot, PostgreSQL et Docker Compose.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1f2937"/>
                </a:solidFill>
                <a:latin typeface="Aptos"/>
                <a:ea typeface="DejaVu Sans"/>
              </a:rPr>
              <a:t>Monitoring local intégré avec Prometheus et Grafana.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1f2937"/>
                </a:solidFill>
                <a:latin typeface="Aptos"/>
                <a:ea typeface="DejaVu Sans"/>
              </a:rPr>
              <a:t>Helm, Terraform et GitHub Actions prévus pour les parcours de déploiement.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16" name="CustomShape 16"/>
          <p:cNvSpPr/>
          <p:nvPr/>
        </p:nvSpPr>
        <p:spPr>
          <a:xfrm>
            <a:off x="822960" y="5897880"/>
            <a:ext cx="10332000" cy="20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  <a:ea typeface="DejaVu Sans"/>
              </a:rPr>
              <a:t>Le déploiement cloud doit être validé dans le compte AWS cible avant d’être présenté comme une mise en production.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CustomShape 1"/>
          <p:cNvSpPr/>
          <p:nvPr/>
        </p:nvSpPr>
        <p:spPr>
          <a:xfrm>
            <a:off x="594360" y="411480"/>
            <a:ext cx="10972080" cy="46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f1c34"/>
                </a:solidFill>
                <a:latin typeface="Aptos"/>
                <a:ea typeface="DejaVu Sans"/>
              </a:rPr>
              <a:t>13 • Prochaines étapes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18" name="CustomShape 2"/>
          <p:cNvSpPr/>
          <p:nvPr/>
        </p:nvSpPr>
        <p:spPr>
          <a:xfrm>
            <a:off x="612720" y="1024200"/>
            <a:ext cx="822240" cy="496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9" name="CustomShape 3"/>
          <p:cNvSpPr/>
          <p:nvPr/>
        </p:nvSpPr>
        <p:spPr>
          <a:xfrm>
            <a:off x="621720" y="1170360"/>
            <a:ext cx="1078920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  <a:ea typeface="DejaVu Sans"/>
              </a:rPr>
              <a:t>Un parcours progressif pour passer de la démonstration à une livraison industrialisée.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20" name="CustomShape 4"/>
          <p:cNvSpPr/>
          <p:nvPr/>
        </p:nvSpPr>
        <p:spPr>
          <a:xfrm>
            <a:off x="502920" y="6510600"/>
            <a:ext cx="7314480" cy="1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  <a:ea typeface="DejaVu Sans"/>
              </a:rPr>
              <a:t>FULL STACK • DEVOPS • KUBERNETES • AWS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21" name="CustomShape 5"/>
          <p:cNvSpPr/>
          <p:nvPr/>
        </p:nvSpPr>
        <p:spPr>
          <a:xfrm>
            <a:off x="11109960" y="6473880"/>
            <a:ext cx="502200" cy="1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  <a:ea typeface="DejaVu Sans"/>
              </a:rPr>
              <a:t>14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22" name="CustomShape 6"/>
          <p:cNvSpPr/>
          <p:nvPr/>
        </p:nvSpPr>
        <p:spPr>
          <a:xfrm>
            <a:off x="868680" y="1737360"/>
            <a:ext cx="233100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1. Stabiliser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3" name="CustomShape 7"/>
          <p:cNvSpPr/>
          <p:nvPr/>
        </p:nvSpPr>
        <p:spPr>
          <a:xfrm>
            <a:off x="3200400" y="1737360"/>
            <a:ext cx="795456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937"/>
                </a:solidFill>
                <a:latin typeface="Aptos"/>
                <a:ea typeface="DejaVu Sans"/>
              </a:rPr>
              <a:t>Valider tests, validations et gestion des erreurs.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24" name="CustomShape 8"/>
          <p:cNvSpPr/>
          <p:nvPr/>
        </p:nvSpPr>
        <p:spPr>
          <a:xfrm>
            <a:off x="868680" y="2157840"/>
            <a:ext cx="10057680" cy="129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CustomShape 9"/>
          <p:cNvSpPr/>
          <p:nvPr/>
        </p:nvSpPr>
        <p:spPr>
          <a:xfrm>
            <a:off x="868680" y="2395800"/>
            <a:ext cx="233100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2. Conteneuriser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6" name="CustomShape 10"/>
          <p:cNvSpPr/>
          <p:nvPr/>
        </p:nvSpPr>
        <p:spPr>
          <a:xfrm>
            <a:off x="3200400" y="2395800"/>
            <a:ext cx="795456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937"/>
                </a:solidFill>
                <a:latin typeface="Aptos"/>
                <a:ea typeface="DejaVu Sans"/>
              </a:rPr>
              <a:t>Optimiser les images Docker et la configuration.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27" name="CustomShape 11"/>
          <p:cNvSpPr/>
          <p:nvPr/>
        </p:nvSpPr>
        <p:spPr>
          <a:xfrm>
            <a:off x="868680" y="2816280"/>
            <a:ext cx="10057680" cy="129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8" name="CustomShape 12"/>
          <p:cNvSpPr/>
          <p:nvPr/>
        </p:nvSpPr>
        <p:spPr>
          <a:xfrm>
            <a:off x="868680" y="3054240"/>
            <a:ext cx="2331000" cy="49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3. Déployer Kubernetes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9" name="CustomShape 13"/>
          <p:cNvSpPr/>
          <p:nvPr/>
        </p:nvSpPr>
        <p:spPr>
          <a:xfrm>
            <a:off x="3200400" y="3054240"/>
            <a:ext cx="795456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937"/>
                </a:solidFill>
                <a:latin typeface="Aptos"/>
                <a:ea typeface="DejaVu Sans"/>
              </a:rPr>
              <a:t>Valider chart Helm, probes, ressources et Ingress.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30" name="CustomShape 14"/>
          <p:cNvSpPr/>
          <p:nvPr/>
        </p:nvSpPr>
        <p:spPr>
          <a:xfrm>
            <a:off x="868680" y="3474720"/>
            <a:ext cx="10057680" cy="129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1" name="CustomShape 15"/>
          <p:cNvSpPr/>
          <p:nvPr/>
        </p:nvSpPr>
        <p:spPr>
          <a:xfrm>
            <a:off x="868680" y="3712320"/>
            <a:ext cx="233100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4. Automatiser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32" name="CustomShape 16"/>
          <p:cNvSpPr/>
          <p:nvPr/>
        </p:nvSpPr>
        <p:spPr>
          <a:xfrm>
            <a:off x="3200400" y="3712320"/>
            <a:ext cx="795456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937"/>
                </a:solidFill>
                <a:latin typeface="Aptos"/>
                <a:ea typeface="DejaVu Sans"/>
              </a:rPr>
              <a:t>Finaliser GitHub Actions, OIDC et publication ECR.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33" name="CustomShape 17"/>
          <p:cNvSpPr/>
          <p:nvPr/>
        </p:nvSpPr>
        <p:spPr>
          <a:xfrm>
            <a:off x="868680" y="4133160"/>
            <a:ext cx="10057680" cy="129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4" name="CustomShape 18"/>
          <p:cNvSpPr/>
          <p:nvPr/>
        </p:nvSpPr>
        <p:spPr>
          <a:xfrm>
            <a:off x="868680" y="4370760"/>
            <a:ext cx="233100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5. Déployer AWS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35" name="CustomShape 19"/>
          <p:cNvSpPr/>
          <p:nvPr/>
        </p:nvSpPr>
        <p:spPr>
          <a:xfrm>
            <a:off x="3200400" y="4370760"/>
            <a:ext cx="795456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937"/>
                </a:solidFill>
                <a:latin typeface="Aptos"/>
                <a:ea typeface="DejaVu Sans"/>
              </a:rPr>
              <a:t>Appliquer Terraform et vérifier réseau, service et RDS.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36" name="CustomShape 20"/>
          <p:cNvSpPr/>
          <p:nvPr/>
        </p:nvSpPr>
        <p:spPr>
          <a:xfrm>
            <a:off x="868680" y="4791600"/>
            <a:ext cx="10057680" cy="129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7" name="CustomShape 21"/>
          <p:cNvSpPr/>
          <p:nvPr/>
        </p:nvSpPr>
        <p:spPr>
          <a:xfrm>
            <a:off x="868680" y="5029200"/>
            <a:ext cx="2331000" cy="26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c34"/>
                </a:solidFill>
                <a:latin typeface="Aptos"/>
                <a:ea typeface="DejaVu Sans"/>
              </a:rPr>
              <a:t>6. Exploiter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38" name="CustomShape 22"/>
          <p:cNvSpPr/>
          <p:nvPr/>
        </p:nvSpPr>
        <p:spPr>
          <a:xfrm>
            <a:off x="3200400" y="5029200"/>
            <a:ext cx="795456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937"/>
                </a:solidFill>
                <a:latin typeface="Aptos"/>
                <a:ea typeface="DejaVu Sans"/>
              </a:rPr>
              <a:t>Configurer dashboards, alertes, sauvegardes et coûts.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39" name="CustomShape 23"/>
          <p:cNvSpPr/>
          <p:nvPr/>
        </p:nvSpPr>
        <p:spPr>
          <a:xfrm>
            <a:off x="868680" y="5449680"/>
            <a:ext cx="10057680" cy="129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CustomShape 1"/>
          <p:cNvSpPr/>
          <p:nvPr/>
        </p:nvSpPr>
        <p:spPr>
          <a:xfrm>
            <a:off x="777240" y="822960"/>
            <a:ext cx="10514880" cy="2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2d3ee"/>
                </a:solidFill>
                <a:latin typeface="Aptos"/>
                <a:ea typeface="DejaVu Sans"/>
              </a:rPr>
              <a:t>CONCLUSION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41" name="CustomShape 2"/>
          <p:cNvSpPr/>
          <p:nvPr/>
        </p:nvSpPr>
        <p:spPr>
          <a:xfrm>
            <a:off x="777240" y="1600200"/>
            <a:ext cx="10240560" cy="107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  <a:ea typeface="DejaVu Sans"/>
              </a:rPr>
              <a:t>Une application CRUD,</a:t>
            </a:r>
            <a:endParaRPr b="0" lang="fr-FR" sz="3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  <a:ea typeface="DejaVu Sans"/>
              </a:rPr>
              <a:t>un cycle de livraison complet.</a:t>
            </a:r>
            <a:endParaRPr b="0" lang="fr-FR" sz="3400" spc="-1" strike="noStrike">
              <a:latin typeface="Arial"/>
            </a:endParaRPr>
          </a:p>
        </p:txBody>
      </p:sp>
      <p:sp>
        <p:nvSpPr>
          <p:cNvPr id="442" name="CustomShape 3"/>
          <p:cNvSpPr/>
          <p:nvPr/>
        </p:nvSpPr>
        <p:spPr>
          <a:xfrm>
            <a:off x="822960" y="3246120"/>
            <a:ext cx="9874800" cy="61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cbd5e1"/>
                </a:solidFill>
                <a:latin typeface="Aptos"/>
                <a:ea typeface="DejaVu Sans"/>
              </a:rPr>
              <a:t>Ce projet démontre la capacité à concevoir, développer, tester, conteneuriser, déployer et superviser une application moderne.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43" name="CustomShape 4"/>
          <p:cNvSpPr/>
          <p:nvPr/>
        </p:nvSpPr>
        <p:spPr>
          <a:xfrm>
            <a:off x="822960" y="4892040"/>
            <a:ext cx="1508040" cy="502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CustomShape 5"/>
          <p:cNvSpPr/>
          <p:nvPr/>
        </p:nvSpPr>
        <p:spPr>
          <a:xfrm>
            <a:off x="822960" y="5029200"/>
            <a:ext cx="1508040" cy="1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DejaVu Sans"/>
              </a:rPr>
              <a:t>REACT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45" name="CustomShape 6"/>
          <p:cNvSpPr/>
          <p:nvPr/>
        </p:nvSpPr>
        <p:spPr>
          <a:xfrm>
            <a:off x="2606040" y="4892040"/>
            <a:ext cx="1508040" cy="5022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6" name="CustomShape 7"/>
          <p:cNvSpPr/>
          <p:nvPr/>
        </p:nvSpPr>
        <p:spPr>
          <a:xfrm>
            <a:off x="2606040" y="5029200"/>
            <a:ext cx="1508040" cy="1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DejaVu Sans"/>
              </a:rPr>
              <a:t>SPRING BOOT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47" name="CustomShape 8"/>
          <p:cNvSpPr/>
          <p:nvPr/>
        </p:nvSpPr>
        <p:spPr>
          <a:xfrm>
            <a:off x="4389120" y="4892040"/>
            <a:ext cx="1508040" cy="502200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CustomShape 9"/>
          <p:cNvSpPr/>
          <p:nvPr/>
        </p:nvSpPr>
        <p:spPr>
          <a:xfrm>
            <a:off x="4389120" y="5029200"/>
            <a:ext cx="1508040" cy="1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DejaVu Sans"/>
              </a:rPr>
              <a:t>DOCKER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49" name="CustomShape 10"/>
          <p:cNvSpPr/>
          <p:nvPr/>
        </p:nvSpPr>
        <p:spPr>
          <a:xfrm>
            <a:off x="6172200" y="4892040"/>
            <a:ext cx="1508040" cy="5022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0" name="CustomShape 11"/>
          <p:cNvSpPr/>
          <p:nvPr/>
        </p:nvSpPr>
        <p:spPr>
          <a:xfrm>
            <a:off x="6172200" y="5029200"/>
            <a:ext cx="1508040" cy="1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DejaVu Sans"/>
              </a:rPr>
              <a:t>KUBERNETES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51" name="CustomShape 12"/>
          <p:cNvSpPr/>
          <p:nvPr/>
        </p:nvSpPr>
        <p:spPr>
          <a:xfrm>
            <a:off x="7955280" y="4892040"/>
            <a:ext cx="1508040" cy="502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CustomShape 13"/>
          <p:cNvSpPr/>
          <p:nvPr/>
        </p:nvSpPr>
        <p:spPr>
          <a:xfrm>
            <a:off x="7955280" y="5029200"/>
            <a:ext cx="1508040" cy="1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DejaVu Sans"/>
              </a:rPr>
              <a:t>AWS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53" name="CustomShape 14"/>
          <p:cNvSpPr/>
          <p:nvPr/>
        </p:nvSpPr>
        <p:spPr>
          <a:xfrm>
            <a:off x="9738360" y="4892040"/>
            <a:ext cx="1508040" cy="5022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CustomShape 15"/>
          <p:cNvSpPr/>
          <p:nvPr/>
        </p:nvSpPr>
        <p:spPr>
          <a:xfrm>
            <a:off x="9738360" y="5029200"/>
            <a:ext cx="1508040" cy="1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DejaVu Sans"/>
              </a:rPr>
              <a:t>CI/CD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55" name="CustomShape 16"/>
          <p:cNvSpPr/>
          <p:nvPr/>
        </p:nvSpPr>
        <p:spPr>
          <a:xfrm>
            <a:off x="822960" y="6172200"/>
            <a:ext cx="9600480" cy="23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Aptos"/>
                <a:ea typeface="DejaVu Sans"/>
              </a:rPr>
              <a:t>Merci • Questions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56" name="CustomShape 17"/>
          <p:cNvSpPr/>
          <p:nvPr/>
        </p:nvSpPr>
        <p:spPr>
          <a:xfrm>
            <a:off x="720000" y="5472000"/>
            <a:ext cx="339408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▸  </a:t>
            </a: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Développement Full Stack (React + Spring Boot + PostgreSQL)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57" name="CustomShape 18"/>
          <p:cNvSpPr/>
          <p:nvPr/>
        </p:nvSpPr>
        <p:spPr>
          <a:xfrm>
            <a:off x="4392000" y="5519160"/>
            <a:ext cx="3312000" cy="74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▸  </a:t>
            </a: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Conteneurisation, Kubernetes, Helm &amp; Terraform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58" name="CustomShape 19"/>
          <p:cNvSpPr/>
          <p:nvPr/>
        </p:nvSpPr>
        <p:spPr>
          <a:xfrm>
            <a:off x="7643520" y="5519160"/>
            <a:ext cx="1860480" cy="81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▸  </a:t>
            </a: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Déploiement cloud AWS (ECS, ALB, RDS)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59" name="CustomShape 20"/>
          <p:cNvSpPr/>
          <p:nvPr/>
        </p:nvSpPr>
        <p:spPr>
          <a:xfrm>
            <a:off x="9648000" y="5472000"/>
            <a:ext cx="2448000" cy="101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▸  </a:t>
            </a:r>
            <a:r>
              <a:rPr b="0" lang="en-US" sz="1600" spc="-1" strike="noStrike">
                <a:solidFill>
                  <a:srgbClr val="93c5fd"/>
                </a:solidFill>
                <a:latin typeface="Arial"/>
                <a:ea typeface="Arial"/>
              </a:rPr>
              <a:t>Monitoring (Prometheus / Grafana) &amp; CI/CD automatisé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OpenAI</dc:creator>
  <dc:description>generated using python-pptx</dc:description>
  <cp:keywords>Full Stack React Spring Boot Java Kubernetes AWS DevOps</cp:keywords>
  <dc:language>fr-FR</dc:language>
  <cp:lastModifiedBy/>
  <dcterms:modified xsi:type="dcterms:W3CDTF">2026-10-15T19:16:02Z</dcterms:modified>
  <cp:revision>5</cp:revision>
  <dc:subject>React, Spring Boot, Java, Kubernetes, AWS, CI/CD</dc:subject>
  <dc:title>Gestion des Personnes — Full Stack &amp; DevOps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